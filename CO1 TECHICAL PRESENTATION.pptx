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presentation on Database Management Systems for SIMATS Engineering. We'll explore core concepts of database design, focusing on how databases are built and managed. Our goal is to understand ER models, architecture, and components, all explained in simple English. We're going to keep things clear and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 Diagram is like a blueprint for a house; it shows the plan before we start building the database. We use it to identify the main objects, called entities, and how they relate to one another. For our library example, we focus on things like books, members, and the borrowing process. This visual map helps us design databases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we actually build that blueprint. In our diagram, we use rectangles for entities like 'Book' and 'Member'. The diamond shape represents the action, such as a member 'borrows' a book. Remember to underline the Primary Key, which is the unique number that identifies each item or person. This helps us create clear and organized database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 simple ER diagram isn't enough for complex systems, like a university. The Enhanced ER model, or EER, gives us more tools to group similar objects together. It helps us handle different types of users, like students and employees, more efficiently. This model makes database design more detailed and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Generalization is like saying both UG and PG students are simply 'Students,' combining smaller groups into one big one. Specialization is the opposite, where we divide employees into specific roles like 'Professor' or 'Office Staff.' This helps reduce repeated data and saves storage space by being more specific. Next, we'll look at how these concepts contribute to data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talked about how to group data with generalization and specialization. Now, let's talk about something called Data Independence. This is super important because it lets us change how data is stored without breaking the whole system. It means if you change the hard drive or the table structure, the user doesn't even notice. This saves engineers a lot of time because they don't have to rewrite code every time a small change happens. We'll dive deeper into the two types of independence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Data Independence comes in two main flavors: Physical and Logical. Physical independence is about the 'Internal Level'—like moving data from a slow disk to a fast one without affecting the programs. Logical independence is about the 'Conceptual Level'—like adding a new column to a table without confusing the user's view. Both are essential for a professional database that needs to grow and change over time. Now, let's look at the different parts that make up a 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saw how data independence keeps things flexible. Now, let's talk about the different parts that make up a DBMS. Think of a DBMS as a team of experts working together to manage your data. The Query Processor is the translator, the Storage Manager is the warehouse keeper, and the Transaction Manager is the security guard. Together, they make sure your data is fast to find and never gets lost. We'll explore the Query Processor and Storage Manager in more detail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met the team. Now, let's see how the Query Processor and Storage Manager work together. When you type a search, the Query Processor finds the fastest way to get the answer. Meanwhile, the Storage Manager is busy organizing the files on the hard drive so they are easy to reach. This teamwork is why modern databases can handle millions of requests per second. Next, we'll shift gears to talk about strong and weak 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our focus to how we categorize entities within our database designs. We have two main types: strong and weak entities. A strong entity is like a 'Student' in a university; it can exist completely on its own and has its own unique ID. But a weak entity, like a 'Dependent' or an 'Emergency Contact', needs that student to exist. It doesn't have its own primary key. In our diagrams, we use a double border for weak entities to show this dependency. This helps us understand how different pieces of information rely on each other. Let's look at a comparison to make this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last slide, the key difference between strong and weak entities really comes down to their primary key. A strong entity has its own full primary key, making it independent. But a weak entity uses a partial key, and it always depends on a strong entity. Think of a 'University' as a strong entity; it stands alone. A 'Department' within that university is a weak entity because it can't exist without the university. Understanding this helps us create correct relationships in our database tables, preventing data from being orphaned. Now, let's bring everything together with a quick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we've covered a lot today, from ER and EER models for planning to understanding data independence and the core components of a DBMS. We also just explored how strong and weak entities help us design robust databases. Remember, good design is the backbone of efficient, fast, and secure databases. It's all about building systems that work well and last. Thank you for your time, and I'm happy to answer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286250"/>
          </a:xfrm>
          <a:prstGeom prst="rect">
            <a:avLst/>
          </a:prstGeom>
          <a:solidFill>
            <a:srgbClr val="000000">
              <a:alpha val="0"/>
            </a:srgbClr>
          </a:solidFill>
          <a:ln w="9144">
            <a:solidFill>
              <a:srgbClr val="0A192F"/>
            </a:solidFill>
            <a:prstDash val="solid"/>
          </a:ln>
        </p:spPr>
      </p:sp>
      <p:sp>
        <p:nvSpPr>
          <p:cNvPr id="5" name="Text 1"/>
          <p:cNvSpPr/>
          <p:nvPr/>
        </p:nvSpPr>
        <p:spPr>
          <a:xfrm>
            <a:off x="857250" y="1000125"/>
            <a:ext cx="7429500" cy="225028"/>
          </a:xfrm>
          <a:prstGeom prst="rect">
            <a:avLst/>
          </a:prstGeom>
          <a:noFill/>
          <a:ln/>
        </p:spPr>
        <p:txBody>
          <a:bodyPr wrap="square" lIns="0" tIns="0" rIns="0" bIns="0" rtlCol="0" anchor="t">
            <a:spAutoFit/>
          </a:bodyPr>
          <a:lstStyle/>
          <a:p>
            <a:pPr algn="l" indent="0" marL="0">
              <a:buNone/>
            </a:pPr>
            <a:r>
              <a:rPr lang="en-US" sz="1250" dirty="0">
                <a:solidFill>
                  <a:srgbClr val="FF6B35"/>
                </a:solidFill>
                <a:latin typeface="Roboto Mono Bold" pitchFamily="34" charset="0"/>
                <a:ea typeface="Roboto Mono Bold" pitchFamily="34" charset="-122"/>
                <a:cs typeface="Roboto Mono Bold" pitchFamily="34" charset="-120"/>
              </a:rPr>
              <a:t>COURSE: CSA05</a:t>
            </a:r>
            <a:endParaRPr lang="en-US" sz="1250" dirty="0"/>
          </a:p>
        </p:txBody>
      </p:sp>
      <p:sp>
        <p:nvSpPr>
          <p:cNvPr id="6" name="Text 2"/>
          <p:cNvSpPr/>
          <p:nvPr/>
        </p:nvSpPr>
        <p:spPr>
          <a:xfrm>
            <a:off x="857250" y="1296591"/>
            <a:ext cx="7429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0056B3"/>
                </a:solidFill>
                <a:latin typeface="Roboto Mono Bold" pitchFamily="34" charset="0"/>
                <a:ea typeface="Roboto Mono Bold" pitchFamily="34" charset="-122"/>
                <a:cs typeface="Roboto Mono Bold" pitchFamily="34" charset="-120"/>
              </a:rPr>
              <a:t>Database Management Systems</a:t>
            </a:r>
            <a:endParaRPr lang="en-US" sz="3300" dirty="0"/>
          </a:p>
        </p:txBody>
      </p:sp>
      <p:sp>
        <p:nvSpPr>
          <p:cNvPr id="7" name="Text 3"/>
          <p:cNvSpPr/>
          <p:nvPr/>
        </p:nvSpPr>
        <p:spPr>
          <a:xfrm>
            <a:off x="857250" y="2778528"/>
            <a:ext cx="3278981" cy="303609"/>
          </a:xfrm>
          <a:prstGeom prst="rect">
            <a:avLst/>
          </a:prstGeom>
          <a:noFill/>
          <a:ln/>
        </p:spPr>
        <p:txBody>
          <a:bodyPr wrap="square" lIns="0" tIns="0" rIns="0" bIns="0" rtlCol="0" anchor="t">
            <a:spAutoFit/>
          </a:bodyPr>
          <a:lstStyle/>
          <a:p>
            <a:pPr algn="l" indent="0" marL="0">
              <a:buNone/>
            </a:pPr>
            <a:r>
              <a:rPr lang="en-US" sz="1400" b="1" dirty="0">
                <a:solidFill>
                  <a:srgbClr val="0A192F"/>
                </a:solidFill>
                <a:latin typeface="Poppins SemiBold" pitchFamily="34" charset="0"/>
                <a:ea typeface="Poppins SemiBold" pitchFamily="34" charset="-122"/>
                <a:cs typeface="Poppins SemiBold" pitchFamily="34" charset="-120"/>
              </a:rPr>
              <a:t>SIMATS Engineering</a:t>
            </a:r>
            <a:endParaRPr lang="en-US" sz="1400" dirty="0"/>
          </a:p>
        </p:txBody>
      </p:sp>
      <p:pic>
        <p:nvPicPr>
          <p:cNvPr id="8" name="Image 1" descr="preencoded.png">    </p:cNvPr>
          <p:cNvPicPr>
            <a:picLocks noChangeAspect="1"/>
          </p:cNvPicPr>
          <p:nvPr/>
        </p:nvPicPr>
        <p:blipFill>
          <a:blip r:embed="rId2"/>
          <a:stretch>
            <a:fillRect/>
          </a:stretch>
        </p:blipFill>
        <p:spPr>
          <a:xfrm>
            <a:off x="857250" y="3273233"/>
            <a:ext cx="89297" cy="100013"/>
          </a:xfrm>
          <a:prstGeom prst="rect">
            <a:avLst/>
          </a:prstGeom>
        </p:spPr>
      </p:pic>
      <p:sp>
        <p:nvSpPr>
          <p:cNvPr id="9" name="Text 4"/>
          <p:cNvSpPr/>
          <p:nvPr/>
        </p:nvSpPr>
        <p:spPr>
          <a:xfrm>
            <a:off x="1053703" y="3225012"/>
            <a:ext cx="2003822" cy="196453"/>
          </a:xfrm>
          <a:prstGeom prst="rect">
            <a:avLst/>
          </a:prstGeom>
          <a:noFill/>
          <a:ln/>
        </p:spPr>
        <p:txBody>
          <a:bodyPr wrap="square" lIns="0" tIns="0" rIns="0" bIns="0" rtlCol="0" anchor="t">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Understand ER and EER Models</a:t>
            </a:r>
            <a:endParaRPr lang="en-US" sz="950" dirty="0"/>
          </a:p>
        </p:txBody>
      </p:sp>
      <p:pic>
        <p:nvPicPr>
          <p:cNvPr id="10" name="Image 2" descr="preencoded.png">    </p:cNvPr>
          <p:cNvPicPr>
            <a:picLocks noChangeAspect="1"/>
          </p:cNvPicPr>
          <p:nvPr/>
        </p:nvPicPr>
        <p:blipFill>
          <a:blip r:embed="rId3"/>
          <a:stretch>
            <a:fillRect/>
          </a:stretch>
        </p:blipFill>
        <p:spPr>
          <a:xfrm>
            <a:off x="857250" y="3541123"/>
            <a:ext cx="89297" cy="100013"/>
          </a:xfrm>
          <a:prstGeom prst="rect">
            <a:avLst/>
          </a:prstGeom>
        </p:spPr>
      </p:pic>
      <p:sp>
        <p:nvSpPr>
          <p:cNvPr id="11" name="Text 5"/>
          <p:cNvSpPr/>
          <p:nvPr/>
        </p:nvSpPr>
        <p:spPr>
          <a:xfrm>
            <a:off x="1053703" y="3492903"/>
            <a:ext cx="1957388" cy="196453"/>
          </a:xfrm>
          <a:prstGeom prst="rect">
            <a:avLst/>
          </a:prstGeom>
          <a:noFill/>
          <a:ln/>
        </p:spPr>
        <p:txBody>
          <a:bodyPr wrap="square" lIns="0" tIns="0" rIns="0" bIns="0" rtlCol="0" anchor="t">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Master Database Architecture</a:t>
            </a:r>
            <a:endParaRPr lang="en-US" sz="950" dirty="0"/>
          </a:p>
        </p:txBody>
      </p:sp>
      <p:pic>
        <p:nvPicPr>
          <p:cNvPr id="12" name="Image 3" descr="preencoded.png">    </p:cNvPr>
          <p:cNvPicPr>
            <a:picLocks noChangeAspect="1"/>
          </p:cNvPicPr>
          <p:nvPr/>
        </p:nvPicPr>
        <p:blipFill>
          <a:blip r:embed="rId4"/>
          <a:stretch>
            <a:fillRect/>
          </a:stretch>
        </p:blipFill>
        <p:spPr>
          <a:xfrm>
            <a:off x="857250" y="3809014"/>
            <a:ext cx="89297" cy="100013"/>
          </a:xfrm>
          <a:prstGeom prst="rect">
            <a:avLst/>
          </a:prstGeom>
        </p:spPr>
      </p:pic>
      <p:sp>
        <p:nvSpPr>
          <p:cNvPr id="13" name="Text 6"/>
          <p:cNvSpPr/>
          <p:nvPr/>
        </p:nvSpPr>
        <p:spPr>
          <a:xfrm>
            <a:off x="1053703" y="3760794"/>
            <a:ext cx="1975247" cy="196453"/>
          </a:xfrm>
          <a:prstGeom prst="rect">
            <a:avLst/>
          </a:prstGeom>
          <a:noFill/>
          <a:ln/>
        </p:spPr>
        <p:txBody>
          <a:bodyPr wrap="square" lIns="0" tIns="0" rIns="0" bIns="0" rtlCol="0" anchor="t">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Explore Software Components</a:t>
            </a:r>
            <a:endParaRPr lang="en-US" sz="950" dirty="0"/>
          </a:p>
        </p:txBody>
      </p:sp>
      <p:sp>
        <p:nvSpPr>
          <p:cNvPr id="14" name="Shape 7"/>
          <p:cNvSpPr/>
          <p:nvPr/>
        </p:nvSpPr>
        <p:spPr>
          <a:xfrm>
            <a:off x="4572000" y="2092393"/>
            <a:ext cx="4143375" cy="2622482"/>
          </a:xfrm>
          <a:prstGeom prst="rect">
            <a:avLst/>
          </a:prstGeom>
          <a:solidFill>
            <a:srgbClr val="ADD8E6">
              <a:alpha val="20000"/>
            </a:srgbClr>
          </a:solidFill>
          <a:ln/>
        </p:spPr>
      </p:sp>
      <p:pic>
        <p:nvPicPr>
          <p:cNvPr id="15" name="Image 4" descr="preencoded.png">    </p:cNvPr>
          <p:cNvPicPr>
            <a:picLocks noChangeAspect="1"/>
          </p:cNvPicPr>
          <p:nvPr/>
        </p:nvPicPr>
        <p:blipFill>
          <a:blip r:embed="rId5"/>
          <a:stretch>
            <a:fillRect/>
          </a:stretch>
        </p:blipFill>
        <p:spPr>
          <a:xfrm>
            <a:off x="5697141" y="2974981"/>
            <a:ext cx="750094" cy="857250"/>
          </a:xfrm>
          <a:prstGeom prst="rect">
            <a:avLst/>
          </a:prstGeom>
        </p:spPr>
      </p:pic>
      <p:pic>
        <p:nvPicPr>
          <p:cNvPr id="16" name="Image 5" descr="preencoded.png">    </p:cNvPr>
          <p:cNvPicPr>
            <a:picLocks noChangeAspect="1"/>
          </p:cNvPicPr>
          <p:nvPr/>
        </p:nvPicPr>
        <p:blipFill>
          <a:blip r:embed="rId6"/>
          <a:stretch>
            <a:fillRect/>
          </a:stretch>
        </p:blipFill>
        <p:spPr>
          <a:xfrm>
            <a:off x="6732984" y="2974981"/>
            <a:ext cx="857250" cy="857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89947"/>
          </a:xfrm>
          <a:prstGeom prst="rect">
            <a:avLst/>
          </a:prstGeom>
        </p:spPr>
      </p:pic>
      <p:sp>
        <p:nvSpPr>
          <p:cNvPr id="4" name="Shape 0"/>
          <p:cNvSpPr/>
          <p:nvPr/>
        </p:nvSpPr>
        <p:spPr>
          <a:xfrm>
            <a:off x="285750" y="285750"/>
            <a:ext cx="8572500" cy="4718447"/>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ER DIAGRAMS FOR LIBRARY SYSTEMS</a:t>
            </a:r>
            <a:endParaRPr lang="en-US" sz="1800" dirty="0"/>
          </a:p>
        </p:txBody>
      </p:sp>
      <p:sp>
        <p:nvSpPr>
          <p:cNvPr id="8" name="Shape 4"/>
          <p:cNvSpPr/>
          <p:nvPr/>
        </p:nvSpPr>
        <p:spPr>
          <a:xfrm>
            <a:off x="571500" y="1425178"/>
            <a:ext cx="85725" cy="85725"/>
          </a:xfrm>
          <a:prstGeom prst="rect">
            <a:avLst/>
          </a:prstGeom>
          <a:solidFill>
            <a:srgbClr val="FF6B35"/>
          </a:solidFill>
          <a:ln w="9144">
            <a:solidFill>
              <a:srgbClr val="0A192F"/>
            </a:solidFill>
            <a:prstDash val="solid"/>
          </a:ln>
        </p:spPr>
      </p:sp>
      <p:sp>
        <p:nvSpPr>
          <p:cNvPr id="9" name="Text 5"/>
          <p:cNvSpPr/>
          <p:nvPr/>
        </p:nvSpPr>
        <p:spPr>
          <a:xfrm>
            <a:off x="571500" y="1339453"/>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ER stands for Entity-Relationship Diagram</a:t>
            </a:r>
            <a:endParaRPr lang="en-US" sz="1250" dirty="0"/>
          </a:p>
        </p:txBody>
      </p:sp>
      <p:sp>
        <p:nvSpPr>
          <p:cNvPr id="10" name="Shape 6"/>
          <p:cNvSpPr/>
          <p:nvPr/>
        </p:nvSpPr>
        <p:spPr>
          <a:xfrm>
            <a:off x="571500" y="1843757"/>
            <a:ext cx="85725" cy="85725"/>
          </a:xfrm>
          <a:prstGeom prst="rect">
            <a:avLst/>
          </a:prstGeom>
          <a:solidFill>
            <a:srgbClr val="FF6B35"/>
          </a:solidFill>
          <a:ln w="9144">
            <a:solidFill>
              <a:srgbClr val="0A192F"/>
            </a:solidFill>
            <a:prstDash val="solid"/>
          </a:ln>
        </p:spPr>
      </p:sp>
      <p:sp>
        <p:nvSpPr>
          <p:cNvPr id="11" name="Text 7"/>
          <p:cNvSpPr/>
          <p:nvPr/>
        </p:nvSpPr>
        <p:spPr>
          <a:xfrm>
            <a:off x="571500" y="1758032"/>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It is a visual map of how data is stored</a:t>
            </a:r>
            <a:endParaRPr lang="en-US" sz="1250" dirty="0"/>
          </a:p>
        </p:txBody>
      </p:sp>
      <p:sp>
        <p:nvSpPr>
          <p:cNvPr id="12" name="Shape 8"/>
          <p:cNvSpPr/>
          <p:nvPr/>
        </p:nvSpPr>
        <p:spPr>
          <a:xfrm>
            <a:off x="571500" y="2262336"/>
            <a:ext cx="85725" cy="85725"/>
          </a:xfrm>
          <a:prstGeom prst="rect">
            <a:avLst/>
          </a:prstGeom>
          <a:solidFill>
            <a:srgbClr val="FF6B35"/>
          </a:solidFill>
          <a:ln w="9144">
            <a:solidFill>
              <a:srgbClr val="0A192F"/>
            </a:solidFill>
            <a:prstDash val="solid"/>
          </a:ln>
        </p:spPr>
      </p:sp>
      <p:sp>
        <p:nvSpPr>
          <p:cNvPr id="13" name="Text 9"/>
          <p:cNvSpPr/>
          <p:nvPr/>
        </p:nvSpPr>
        <p:spPr>
          <a:xfrm>
            <a:off x="571500" y="2176611"/>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Used to design databases before building them</a:t>
            </a:r>
            <a:endParaRPr lang="en-US" sz="1250" dirty="0"/>
          </a:p>
        </p:txBody>
      </p:sp>
      <p:sp>
        <p:nvSpPr>
          <p:cNvPr id="14" name="Shape 10"/>
          <p:cNvSpPr/>
          <p:nvPr/>
        </p:nvSpPr>
        <p:spPr>
          <a:xfrm>
            <a:off x="571500" y="2680915"/>
            <a:ext cx="85725" cy="85725"/>
          </a:xfrm>
          <a:prstGeom prst="rect">
            <a:avLst/>
          </a:prstGeom>
          <a:solidFill>
            <a:srgbClr val="FF6B35"/>
          </a:solidFill>
          <a:ln w="9144">
            <a:solidFill>
              <a:srgbClr val="0A192F"/>
            </a:solidFill>
            <a:prstDash val="solid"/>
          </a:ln>
        </p:spPr>
      </p:sp>
      <p:sp>
        <p:nvSpPr>
          <p:cNvPr id="15" name="Text 11"/>
          <p:cNvSpPr/>
          <p:nvPr/>
        </p:nvSpPr>
        <p:spPr>
          <a:xfrm>
            <a:off x="571500" y="2595190"/>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Entities are objects like Books and Members</a:t>
            </a:r>
            <a:endParaRPr lang="en-US" sz="1250" dirty="0"/>
          </a:p>
        </p:txBody>
      </p:sp>
      <p:sp>
        <p:nvSpPr>
          <p:cNvPr id="16" name="Shape 12"/>
          <p:cNvSpPr/>
          <p:nvPr/>
        </p:nvSpPr>
        <p:spPr>
          <a:xfrm>
            <a:off x="571500" y="3099495"/>
            <a:ext cx="85725" cy="85725"/>
          </a:xfrm>
          <a:prstGeom prst="rect">
            <a:avLst/>
          </a:prstGeom>
          <a:solidFill>
            <a:srgbClr val="FF6B35"/>
          </a:solidFill>
          <a:ln w="9144">
            <a:solidFill>
              <a:srgbClr val="0A192F"/>
            </a:solidFill>
            <a:prstDash val="solid"/>
          </a:ln>
        </p:spPr>
      </p:sp>
      <p:sp>
        <p:nvSpPr>
          <p:cNvPr id="17" name="Text 13"/>
          <p:cNvSpPr/>
          <p:nvPr/>
        </p:nvSpPr>
        <p:spPr>
          <a:xfrm>
            <a:off x="571500" y="3013770"/>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Relationships show how objects connect</a:t>
            </a:r>
            <a:endParaRPr lang="en-US" sz="1250" dirty="0"/>
          </a:p>
        </p:txBody>
      </p:sp>
      <p:sp>
        <p:nvSpPr>
          <p:cNvPr id="18" name="Shape 14"/>
          <p:cNvSpPr/>
          <p:nvPr/>
        </p:nvSpPr>
        <p:spPr>
          <a:xfrm>
            <a:off x="571500" y="3518074"/>
            <a:ext cx="85725" cy="85725"/>
          </a:xfrm>
          <a:prstGeom prst="rect">
            <a:avLst/>
          </a:prstGeom>
          <a:solidFill>
            <a:srgbClr val="FF6B35"/>
          </a:solidFill>
          <a:ln w="9144">
            <a:solidFill>
              <a:srgbClr val="0A192F"/>
            </a:solidFill>
            <a:prstDash val="solid"/>
          </a:ln>
        </p:spPr>
      </p:sp>
      <p:sp>
        <p:nvSpPr>
          <p:cNvPr id="19" name="Text 15"/>
          <p:cNvSpPr/>
          <p:nvPr/>
        </p:nvSpPr>
        <p:spPr>
          <a:xfrm>
            <a:off x="571500" y="3432349"/>
            <a:ext cx="4564856" cy="239985"/>
          </a:xfrm>
          <a:prstGeom prst="rect">
            <a:avLst/>
          </a:prstGeom>
          <a:noFill/>
          <a:ln/>
        </p:spPr>
        <p:txBody>
          <a:bodyPr wrap="non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Simple way to plan a Library System</a:t>
            </a:r>
            <a:endParaRPr lang="en-US" sz="1250" dirty="0"/>
          </a:p>
        </p:txBody>
      </p:sp>
      <p:sp>
        <p:nvSpPr>
          <p:cNvPr id="20" name="Shape 16"/>
          <p:cNvSpPr/>
          <p:nvPr/>
        </p:nvSpPr>
        <p:spPr>
          <a:xfrm>
            <a:off x="5429250" y="1053703"/>
            <a:ext cx="3429000" cy="3929063"/>
          </a:xfrm>
          <a:prstGeom prst="rect">
            <a:avLst/>
          </a:prstGeom>
          <a:solidFill>
            <a:srgbClr val="FFFFFF"/>
          </a:solidFill>
          <a:ln/>
        </p:spPr>
      </p:sp>
      <p:sp>
        <p:nvSpPr>
          <p:cNvPr id="21" name="Shape 17"/>
          <p:cNvSpPr/>
          <p:nvPr/>
        </p:nvSpPr>
        <p:spPr>
          <a:xfrm>
            <a:off x="6257925" y="1703784"/>
            <a:ext cx="714375" cy="357188"/>
          </a:xfrm>
          <a:prstGeom prst="rect">
            <a:avLst/>
          </a:prstGeom>
          <a:solidFill>
            <a:srgbClr val="ADD8E6"/>
          </a:solidFill>
          <a:ln w="9144">
            <a:solidFill>
              <a:srgbClr val="0A192F"/>
            </a:solidFill>
            <a:prstDash val="solid"/>
          </a:ln>
        </p:spPr>
      </p:sp>
      <p:sp>
        <p:nvSpPr>
          <p:cNvPr id="22" name="Text 18"/>
          <p:cNvSpPr/>
          <p:nvPr/>
        </p:nvSpPr>
        <p:spPr>
          <a:xfrm>
            <a:off x="6257925" y="1703784"/>
            <a:ext cx="714375" cy="357188"/>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BOOK</a:t>
            </a:r>
            <a:endParaRPr lang="en-US" sz="700" dirty="0"/>
          </a:p>
        </p:txBody>
      </p:sp>
      <p:sp>
        <p:nvSpPr>
          <p:cNvPr id="23" name="Shape 19"/>
          <p:cNvSpPr/>
          <p:nvPr/>
        </p:nvSpPr>
        <p:spPr>
          <a:xfrm rot="2700000">
            <a:off x="6865144" y="2311003"/>
            <a:ext cx="571500" cy="571500"/>
          </a:xfrm>
          <a:prstGeom prst="rect">
            <a:avLst/>
          </a:prstGeom>
          <a:solidFill>
            <a:srgbClr val="FFDAB9"/>
          </a:solidFill>
          <a:ln w="9144">
            <a:solidFill>
              <a:srgbClr val="0A192F"/>
            </a:solidFill>
            <a:prstDash val="solid"/>
          </a:ln>
        </p:spPr>
      </p:sp>
      <p:sp>
        <p:nvSpPr>
          <p:cNvPr id="24" name="Text 20"/>
          <p:cNvSpPr/>
          <p:nvPr/>
        </p:nvSpPr>
        <p:spPr>
          <a:xfrm>
            <a:off x="6924080" y="2521744"/>
            <a:ext cx="453628" cy="150019"/>
          </a:xfrm>
          <a:prstGeom prst="rect">
            <a:avLst/>
          </a:prstGeom>
          <a:noFill/>
          <a:ln/>
        </p:spPr>
        <p:txBody>
          <a:bodyPr wrap="none" lIns="0" tIns="0" rIns="0" bIns="0" rtlCol="0" anchor="t">
            <a:spAutoFit/>
          </a:bodyPr>
          <a:lstStyle/>
          <a:p>
            <a:pPr algn="l" indent="0" marL="0">
              <a:buNone/>
            </a:pPr>
            <a:r>
              <a:rPr lang="en-US" sz="700" b="1" dirty="0">
                <a:solidFill>
                  <a:srgbClr val="0A192F"/>
                </a:solidFill>
                <a:latin typeface="Poppins SemiBold" pitchFamily="34" charset="0"/>
                <a:ea typeface="Poppins SemiBold" pitchFamily="34" charset="-122"/>
                <a:cs typeface="Poppins SemiBold" pitchFamily="34" charset="-120"/>
              </a:rPr>
              <a:t>BORROW</a:t>
            </a:r>
            <a:endParaRPr lang="en-US" sz="700" dirty="0"/>
          </a:p>
        </p:txBody>
      </p:sp>
      <p:sp>
        <p:nvSpPr>
          <p:cNvPr id="25" name="Shape 21"/>
          <p:cNvSpPr/>
          <p:nvPr/>
        </p:nvSpPr>
        <p:spPr>
          <a:xfrm>
            <a:off x="7315200" y="3118247"/>
            <a:ext cx="714375" cy="357188"/>
          </a:xfrm>
          <a:prstGeom prst="rect">
            <a:avLst/>
          </a:prstGeom>
          <a:solidFill>
            <a:srgbClr val="ADD8E6"/>
          </a:solidFill>
          <a:ln w="9144">
            <a:solidFill>
              <a:srgbClr val="0A192F"/>
            </a:solidFill>
            <a:prstDash val="solid"/>
          </a:ln>
        </p:spPr>
      </p:sp>
      <p:sp>
        <p:nvSpPr>
          <p:cNvPr id="26" name="Text 22"/>
          <p:cNvSpPr/>
          <p:nvPr/>
        </p:nvSpPr>
        <p:spPr>
          <a:xfrm>
            <a:off x="7315200" y="3118247"/>
            <a:ext cx="714375" cy="357188"/>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MEMBER</a:t>
            </a:r>
            <a:endParaRPr lang="en-US" sz="700" dirty="0"/>
          </a:p>
        </p:txBody>
      </p:sp>
      <p:pic>
        <p:nvPicPr>
          <p:cNvPr id="27" name="Image 1" descr="preencoded.png">    </p:cNvPr>
          <p:cNvPicPr>
            <a:picLocks noChangeAspect="1"/>
          </p:cNvPicPr>
          <p:nvPr/>
        </p:nvPicPr>
        <p:blipFill>
          <a:blip r:embed="rId2"/>
          <a:stretch>
            <a:fillRect/>
          </a:stretch>
        </p:blipFill>
        <p:spPr>
          <a:xfrm>
            <a:off x="6929438" y="4150519"/>
            <a:ext cx="428625" cy="428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32809"/>
          </a:xfrm>
          <a:prstGeom prst="rect">
            <a:avLst/>
          </a:prstGeom>
        </p:spPr>
      </p:pic>
      <p:sp>
        <p:nvSpPr>
          <p:cNvPr id="4" name="Shape 0"/>
          <p:cNvSpPr/>
          <p:nvPr/>
        </p:nvSpPr>
        <p:spPr>
          <a:xfrm>
            <a:off x="285750" y="285750"/>
            <a:ext cx="8572500" cy="4761309"/>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BUILDING THE LIBRARY ER DIAGRAM</a:t>
            </a:r>
            <a:endParaRPr lang="en-US" sz="1800" dirty="0"/>
          </a:p>
        </p:txBody>
      </p:sp>
      <p:sp>
        <p:nvSpPr>
          <p:cNvPr id="8" name="Shape 4"/>
          <p:cNvSpPr/>
          <p:nvPr/>
        </p:nvSpPr>
        <p:spPr>
          <a:xfrm>
            <a:off x="571500" y="1325166"/>
            <a:ext cx="71438" cy="71438"/>
          </a:xfrm>
          <a:prstGeom prst="rect">
            <a:avLst/>
          </a:prstGeom>
          <a:solidFill>
            <a:srgbClr val="FF6B35"/>
          </a:solidFill>
          <a:ln w="9144">
            <a:solidFill>
              <a:srgbClr val="0A192F"/>
            </a:solidFill>
            <a:prstDash val="solid"/>
          </a:ln>
        </p:spPr>
      </p:sp>
      <p:sp>
        <p:nvSpPr>
          <p:cNvPr id="9" name="Text 5"/>
          <p:cNvSpPr/>
          <p:nvPr/>
        </p:nvSpPr>
        <p:spPr>
          <a:xfrm>
            <a:off x="571500" y="1268016"/>
            <a:ext cx="3707606"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Entities: Book (ID, Title), Member (ID, Name)</a:t>
            </a:r>
            <a:endParaRPr lang="en-US" sz="1050" dirty="0"/>
          </a:p>
        </p:txBody>
      </p:sp>
      <p:sp>
        <p:nvSpPr>
          <p:cNvPr id="10" name="Shape 6"/>
          <p:cNvSpPr/>
          <p:nvPr/>
        </p:nvSpPr>
        <p:spPr>
          <a:xfrm>
            <a:off x="571500" y="1646634"/>
            <a:ext cx="71438" cy="71438"/>
          </a:xfrm>
          <a:prstGeom prst="rect">
            <a:avLst/>
          </a:prstGeom>
          <a:solidFill>
            <a:srgbClr val="FF6B35"/>
          </a:solidFill>
          <a:ln w="9144">
            <a:solidFill>
              <a:srgbClr val="0A192F"/>
            </a:solidFill>
            <a:prstDash val="solid"/>
          </a:ln>
        </p:spPr>
      </p:sp>
      <p:sp>
        <p:nvSpPr>
          <p:cNvPr id="11" name="Text 7"/>
          <p:cNvSpPr/>
          <p:nvPr/>
        </p:nvSpPr>
        <p:spPr>
          <a:xfrm>
            <a:off x="571500" y="1589484"/>
            <a:ext cx="3707606"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Relationship: Member "Borrows" Book</a:t>
            </a:r>
            <a:endParaRPr lang="en-US" sz="1050" dirty="0"/>
          </a:p>
        </p:txBody>
      </p:sp>
      <p:sp>
        <p:nvSpPr>
          <p:cNvPr id="12" name="Shape 8"/>
          <p:cNvSpPr/>
          <p:nvPr/>
        </p:nvSpPr>
        <p:spPr>
          <a:xfrm>
            <a:off x="571500" y="1968103"/>
            <a:ext cx="71438" cy="71438"/>
          </a:xfrm>
          <a:prstGeom prst="rect">
            <a:avLst/>
          </a:prstGeom>
          <a:solidFill>
            <a:srgbClr val="FF6B35"/>
          </a:solidFill>
          <a:ln w="9144">
            <a:solidFill>
              <a:srgbClr val="0A192F"/>
            </a:solidFill>
            <a:prstDash val="solid"/>
          </a:ln>
        </p:spPr>
      </p:sp>
      <p:sp>
        <p:nvSpPr>
          <p:cNvPr id="13" name="Text 9"/>
          <p:cNvSpPr/>
          <p:nvPr/>
        </p:nvSpPr>
        <p:spPr>
          <a:xfrm>
            <a:off x="571500" y="1910953"/>
            <a:ext cx="3707606"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Rectangles: Used for main objects (Entities)</a:t>
            </a:r>
            <a:endParaRPr lang="en-US" sz="1050" dirty="0"/>
          </a:p>
        </p:txBody>
      </p:sp>
      <p:sp>
        <p:nvSpPr>
          <p:cNvPr id="14" name="Shape 10"/>
          <p:cNvSpPr/>
          <p:nvPr/>
        </p:nvSpPr>
        <p:spPr>
          <a:xfrm>
            <a:off x="4857750" y="1325166"/>
            <a:ext cx="71438" cy="71438"/>
          </a:xfrm>
          <a:prstGeom prst="rect">
            <a:avLst/>
          </a:prstGeom>
          <a:solidFill>
            <a:srgbClr val="FF6B35"/>
          </a:solidFill>
          <a:ln w="9144">
            <a:solidFill>
              <a:srgbClr val="0A192F"/>
            </a:solidFill>
            <a:prstDash val="solid"/>
          </a:ln>
        </p:spPr>
      </p:sp>
      <p:sp>
        <p:nvSpPr>
          <p:cNvPr id="15" name="Text 11"/>
          <p:cNvSpPr/>
          <p:nvPr/>
        </p:nvSpPr>
        <p:spPr>
          <a:xfrm>
            <a:off x="4857750" y="1268016"/>
            <a:ext cx="3714750"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Diamonds: Used for actions (Relationships)</a:t>
            </a:r>
            <a:endParaRPr lang="en-US" sz="1050" dirty="0"/>
          </a:p>
        </p:txBody>
      </p:sp>
      <p:sp>
        <p:nvSpPr>
          <p:cNvPr id="16" name="Shape 12"/>
          <p:cNvSpPr/>
          <p:nvPr/>
        </p:nvSpPr>
        <p:spPr>
          <a:xfrm>
            <a:off x="4857750" y="1646634"/>
            <a:ext cx="71438" cy="71438"/>
          </a:xfrm>
          <a:prstGeom prst="rect">
            <a:avLst/>
          </a:prstGeom>
          <a:solidFill>
            <a:srgbClr val="FF6B35"/>
          </a:solidFill>
          <a:ln w="9144">
            <a:solidFill>
              <a:srgbClr val="0A192F"/>
            </a:solidFill>
            <a:prstDash val="solid"/>
          </a:ln>
        </p:spPr>
      </p:sp>
      <p:sp>
        <p:nvSpPr>
          <p:cNvPr id="17" name="Text 13"/>
          <p:cNvSpPr/>
          <p:nvPr/>
        </p:nvSpPr>
        <p:spPr>
          <a:xfrm>
            <a:off x="4857750" y="1589484"/>
            <a:ext cx="3714750"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Ovals: Used for details (Attributes)</a:t>
            </a:r>
            <a:endParaRPr lang="en-US" sz="1050" dirty="0"/>
          </a:p>
        </p:txBody>
      </p:sp>
      <p:sp>
        <p:nvSpPr>
          <p:cNvPr id="18" name="Shape 14"/>
          <p:cNvSpPr/>
          <p:nvPr/>
        </p:nvSpPr>
        <p:spPr>
          <a:xfrm>
            <a:off x="4857750" y="1968103"/>
            <a:ext cx="71438" cy="71438"/>
          </a:xfrm>
          <a:prstGeom prst="rect">
            <a:avLst/>
          </a:prstGeom>
          <a:solidFill>
            <a:srgbClr val="FF6B35"/>
          </a:solidFill>
          <a:ln w="9144">
            <a:solidFill>
              <a:srgbClr val="0A192F"/>
            </a:solidFill>
            <a:prstDash val="solid"/>
          </a:ln>
        </p:spPr>
      </p:sp>
      <p:sp>
        <p:nvSpPr>
          <p:cNvPr id="19" name="Text 15"/>
          <p:cNvSpPr/>
          <p:nvPr/>
        </p:nvSpPr>
        <p:spPr>
          <a:xfrm>
            <a:off x="4857750" y="1910953"/>
            <a:ext cx="3714750" cy="214313"/>
          </a:xfrm>
          <a:prstGeom prst="rect">
            <a:avLst/>
          </a:prstGeom>
          <a:noFill/>
          <a:ln/>
        </p:spPr>
        <p:txBody>
          <a:bodyPr wrap="square" lIns="212598" tIns="0" rIns="0" bIns="0" rtlCol="0" anchor="t">
            <a:spAutoFit/>
          </a:bodyPr>
          <a:lstStyle/>
          <a:p>
            <a:pPr algn="l" indent="0" marL="0">
              <a:buNone/>
            </a:pPr>
            <a:r>
              <a:rPr lang="en-US" sz="1050" dirty="0">
                <a:solidFill>
                  <a:srgbClr val="0A192F"/>
                </a:solidFill>
                <a:latin typeface="Poppins" pitchFamily="34" charset="0"/>
                <a:ea typeface="Poppins" pitchFamily="34" charset="-122"/>
                <a:cs typeface="Poppins" pitchFamily="34" charset="-120"/>
              </a:rPr>
              <a:t>Primary Key: Underlined unique ID for each entity</a:t>
            </a:r>
            <a:endParaRPr lang="en-US" sz="1050" dirty="0"/>
          </a:p>
        </p:txBody>
      </p:sp>
      <p:sp>
        <p:nvSpPr>
          <p:cNvPr id="20" name="Shape 16"/>
          <p:cNvSpPr/>
          <p:nvPr/>
        </p:nvSpPr>
        <p:spPr>
          <a:xfrm>
            <a:off x="285750" y="2453878"/>
            <a:ext cx="8572500" cy="2571750"/>
          </a:xfrm>
          <a:prstGeom prst="rect">
            <a:avLst/>
          </a:prstGeom>
          <a:solidFill>
            <a:srgbClr val="FFFFFF"/>
          </a:solidFill>
          <a:ln/>
        </p:spPr>
      </p:sp>
      <p:sp>
        <p:nvSpPr>
          <p:cNvPr id="21" name="Shape 17"/>
          <p:cNvSpPr/>
          <p:nvPr/>
        </p:nvSpPr>
        <p:spPr>
          <a:xfrm>
            <a:off x="1721644" y="3532584"/>
            <a:ext cx="1000125" cy="428625"/>
          </a:xfrm>
          <a:prstGeom prst="rect">
            <a:avLst/>
          </a:prstGeom>
          <a:solidFill>
            <a:srgbClr val="ADD8E6"/>
          </a:solidFill>
          <a:ln w="9144">
            <a:solidFill>
              <a:srgbClr val="0A192F"/>
            </a:solidFill>
            <a:prstDash val="solid"/>
          </a:ln>
        </p:spPr>
      </p:sp>
      <p:sp>
        <p:nvSpPr>
          <p:cNvPr id="22" name="Text 18"/>
          <p:cNvSpPr/>
          <p:nvPr/>
        </p:nvSpPr>
        <p:spPr>
          <a:xfrm>
            <a:off x="1721644" y="3532584"/>
            <a:ext cx="1000125" cy="428625"/>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BOOK</a:t>
            </a:r>
            <a:endParaRPr lang="en-US" sz="700" dirty="0"/>
          </a:p>
        </p:txBody>
      </p:sp>
      <p:sp>
        <p:nvSpPr>
          <p:cNvPr id="23" name="Shape 19"/>
          <p:cNvSpPr/>
          <p:nvPr/>
        </p:nvSpPr>
        <p:spPr>
          <a:xfrm>
            <a:off x="1864519" y="2961084"/>
            <a:ext cx="714375" cy="357188"/>
          </a:xfrm>
          <a:prstGeom prst="roundRect">
            <a:avLst/>
          </a:prstGeom>
          <a:solidFill>
            <a:srgbClr val="E6E6FA"/>
          </a:solidFill>
          <a:ln w="9144">
            <a:solidFill>
              <a:srgbClr val="0A192F"/>
            </a:solidFill>
            <a:prstDash val="solid"/>
          </a:ln>
        </p:spPr>
      </p:sp>
      <p:sp>
        <p:nvSpPr>
          <p:cNvPr id="24" name="Text 20"/>
          <p:cNvSpPr/>
          <p:nvPr/>
        </p:nvSpPr>
        <p:spPr>
          <a:xfrm>
            <a:off x="2005608" y="3064669"/>
            <a:ext cx="432197" cy="150019"/>
          </a:xfrm>
          <a:prstGeom prst="rect">
            <a:avLst/>
          </a:prstGeom>
          <a:noFill/>
          <a:ln/>
        </p:spPr>
        <p:txBody>
          <a:bodyPr wrap="none" lIns="0" tIns="0" rIns="0" bIns="0" rtlCol="0" anchor="t">
            <a:spAutoFit/>
          </a:bodyPr>
          <a:lstStyle/>
          <a:p>
            <a:pPr algn="l" indent="0" marL="0">
              <a:buNone/>
            </a:pPr>
            <a:r>
              <a:rPr lang="en-US" sz="700" b="1" u="sng" dirty="0">
                <a:solidFill>
                  <a:srgbClr val="0A192F"/>
                </a:solidFill>
                <a:uFill>
                  <a:solidFill>
                    <a:srgbClr val="0A192F"/>
                  </a:solidFill>
                </a:uFill>
                <a:latin typeface="Poppins SemiBold" pitchFamily="34" charset="0"/>
                <a:ea typeface="Poppins SemiBold" pitchFamily="34" charset="-122"/>
                <a:cs typeface="Poppins SemiBold" pitchFamily="34" charset="-120"/>
              </a:rPr>
              <a:t>Book_ID</a:t>
            </a:r>
            <a:endParaRPr lang="en-US" sz="700" dirty="0"/>
          </a:p>
        </p:txBody>
      </p:sp>
      <p:sp>
        <p:nvSpPr>
          <p:cNvPr id="25" name="Shape 21"/>
          <p:cNvSpPr/>
          <p:nvPr/>
        </p:nvSpPr>
        <p:spPr>
          <a:xfrm rot="2700000">
            <a:off x="4221956" y="3389709"/>
            <a:ext cx="714375" cy="714375"/>
          </a:xfrm>
          <a:prstGeom prst="rect">
            <a:avLst/>
          </a:prstGeom>
          <a:solidFill>
            <a:srgbClr val="FFDAB9"/>
          </a:solidFill>
          <a:ln w="9144">
            <a:solidFill>
              <a:srgbClr val="0A192F"/>
            </a:solidFill>
            <a:prstDash val="solid"/>
          </a:ln>
        </p:spPr>
      </p:sp>
      <p:sp>
        <p:nvSpPr>
          <p:cNvPr id="26" name="Text 22"/>
          <p:cNvSpPr/>
          <p:nvPr/>
        </p:nvSpPr>
        <p:spPr>
          <a:xfrm>
            <a:off x="4323755" y="3671888"/>
            <a:ext cx="510778" cy="150019"/>
          </a:xfrm>
          <a:prstGeom prst="rect">
            <a:avLst/>
          </a:prstGeom>
          <a:noFill/>
          <a:ln/>
        </p:spPr>
        <p:txBody>
          <a:bodyPr wrap="none" lIns="0" tIns="0" rIns="0" bIns="0" rtlCol="0" anchor="t">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BORROWS</a:t>
            </a:r>
            <a:endParaRPr lang="en-US" sz="700" dirty="0"/>
          </a:p>
        </p:txBody>
      </p:sp>
      <p:sp>
        <p:nvSpPr>
          <p:cNvPr id="27" name="Shape 23"/>
          <p:cNvSpPr/>
          <p:nvPr/>
        </p:nvSpPr>
        <p:spPr>
          <a:xfrm>
            <a:off x="6422231" y="3532584"/>
            <a:ext cx="1000125" cy="428625"/>
          </a:xfrm>
          <a:prstGeom prst="rect">
            <a:avLst/>
          </a:prstGeom>
          <a:solidFill>
            <a:srgbClr val="ADD8E6"/>
          </a:solidFill>
          <a:ln w="9144">
            <a:solidFill>
              <a:srgbClr val="0A192F"/>
            </a:solidFill>
            <a:prstDash val="solid"/>
          </a:ln>
        </p:spPr>
      </p:sp>
      <p:sp>
        <p:nvSpPr>
          <p:cNvPr id="28" name="Text 24"/>
          <p:cNvSpPr/>
          <p:nvPr/>
        </p:nvSpPr>
        <p:spPr>
          <a:xfrm>
            <a:off x="6422231" y="3532584"/>
            <a:ext cx="1000125" cy="428625"/>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MEMBER</a:t>
            </a:r>
            <a:endParaRPr lang="en-US" sz="700" dirty="0"/>
          </a:p>
        </p:txBody>
      </p:sp>
      <p:sp>
        <p:nvSpPr>
          <p:cNvPr id="29" name="Shape 25"/>
          <p:cNvSpPr/>
          <p:nvPr/>
        </p:nvSpPr>
        <p:spPr>
          <a:xfrm>
            <a:off x="6565106" y="2961084"/>
            <a:ext cx="714375" cy="357188"/>
          </a:xfrm>
          <a:prstGeom prst="roundRect">
            <a:avLst/>
          </a:prstGeom>
          <a:solidFill>
            <a:srgbClr val="E6E6FA"/>
          </a:solidFill>
          <a:ln w="9144">
            <a:solidFill>
              <a:srgbClr val="0A192F"/>
            </a:solidFill>
            <a:prstDash val="solid"/>
          </a:ln>
        </p:spPr>
      </p:sp>
      <p:sp>
        <p:nvSpPr>
          <p:cNvPr id="30" name="Text 26"/>
          <p:cNvSpPr/>
          <p:nvPr/>
        </p:nvSpPr>
        <p:spPr>
          <a:xfrm>
            <a:off x="6620470" y="3064669"/>
            <a:ext cx="603647" cy="150019"/>
          </a:xfrm>
          <a:prstGeom prst="rect">
            <a:avLst/>
          </a:prstGeom>
          <a:noFill/>
          <a:ln/>
        </p:spPr>
        <p:txBody>
          <a:bodyPr wrap="none" lIns="0" tIns="0" rIns="0" bIns="0" rtlCol="0" anchor="t">
            <a:spAutoFit/>
          </a:bodyPr>
          <a:lstStyle/>
          <a:p>
            <a:pPr algn="l" indent="0" marL="0">
              <a:buNone/>
            </a:pPr>
            <a:r>
              <a:rPr lang="en-US" sz="700" b="1" u="sng" dirty="0">
                <a:solidFill>
                  <a:srgbClr val="0A192F"/>
                </a:solidFill>
                <a:uFill>
                  <a:solidFill>
                    <a:srgbClr val="0A192F"/>
                  </a:solidFill>
                </a:uFill>
                <a:latin typeface="Poppins SemiBold" pitchFamily="34" charset="0"/>
                <a:ea typeface="Poppins SemiBold" pitchFamily="34" charset="-122"/>
                <a:cs typeface="Poppins SemiBold" pitchFamily="34" charset="-120"/>
              </a:rPr>
              <a:t>Member_ID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883771"/>
          </a:xfrm>
          <a:prstGeom prst="rect">
            <a:avLst/>
          </a:prstGeom>
        </p:spPr>
      </p:pic>
      <p:sp>
        <p:nvSpPr>
          <p:cNvPr id="4" name="Shape 0"/>
          <p:cNvSpPr/>
          <p:nvPr/>
        </p:nvSpPr>
        <p:spPr>
          <a:xfrm>
            <a:off x="285750" y="285750"/>
            <a:ext cx="8572500" cy="5312271"/>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UNDERSTANDING THE EER MODEL</a:t>
            </a:r>
            <a:endParaRPr lang="en-US" sz="1800" dirty="0"/>
          </a:p>
        </p:txBody>
      </p:sp>
      <p:sp>
        <p:nvSpPr>
          <p:cNvPr id="8" name="Shape 4"/>
          <p:cNvSpPr/>
          <p:nvPr/>
        </p:nvSpPr>
        <p:spPr>
          <a:xfrm>
            <a:off x="571500" y="1425178"/>
            <a:ext cx="85725" cy="85725"/>
          </a:xfrm>
          <a:prstGeom prst="rect">
            <a:avLst/>
          </a:prstGeom>
          <a:solidFill>
            <a:srgbClr val="FF6B35"/>
          </a:solidFill>
          <a:ln w="9144">
            <a:solidFill>
              <a:srgbClr val="0A192F"/>
            </a:solidFill>
            <a:prstDash val="solid"/>
          </a:ln>
        </p:spPr>
      </p:sp>
      <p:sp>
        <p:nvSpPr>
          <p:cNvPr id="9" name="Text 5"/>
          <p:cNvSpPr/>
          <p:nvPr/>
        </p:nvSpPr>
        <p:spPr>
          <a:xfrm>
            <a:off x="571500" y="1339453"/>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EER stands for Enhanced Entity-Relationship</a:t>
            </a:r>
            <a:endParaRPr lang="en-US" sz="1250" dirty="0"/>
          </a:p>
        </p:txBody>
      </p:sp>
      <p:sp>
        <p:nvSpPr>
          <p:cNvPr id="10" name="Shape 6"/>
          <p:cNvSpPr/>
          <p:nvPr/>
        </p:nvSpPr>
        <p:spPr>
          <a:xfrm>
            <a:off x="571500" y="2083743"/>
            <a:ext cx="85725" cy="85725"/>
          </a:xfrm>
          <a:prstGeom prst="rect">
            <a:avLst/>
          </a:prstGeom>
          <a:solidFill>
            <a:srgbClr val="FF6B35"/>
          </a:solidFill>
          <a:ln w="9144">
            <a:solidFill>
              <a:srgbClr val="0A192F"/>
            </a:solidFill>
            <a:prstDash val="solid"/>
          </a:ln>
        </p:spPr>
      </p:sp>
      <p:sp>
        <p:nvSpPr>
          <p:cNvPr id="11" name="Text 7"/>
          <p:cNvSpPr/>
          <p:nvPr/>
        </p:nvSpPr>
        <p:spPr>
          <a:xfrm>
            <a:off x="571500" y="1998018"/>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It adds more features to the basic ER model</a:t>
            </a:r>
            <a:endParaRPr lang="en-US" sz="1250" dirty="0"/>
          </a:p>
        </p:txBody>
      </p:sp>
      <p:sp>
        <p:nvSpPr>
          <p:cNvPr id="12" name="Shape 8"/>
          <p:cNvSpPr/>
          <p:nvPr/>
        </p:nvSpPr>
        <p:spPr>
          <a:xfrm>
            <a:off x="571500" y="2742307"/>
            <a:ext cx="85725" cy="85725"/>
          </a:xfrm>
          <a:prstGeom prst="rect">
            <a:avLst/>
          </a:prstGeom>
          <a:solidFill>
            <a:srgbClr val="FF6B35"/>
          </a:solidFill>
          <a:ln w="9144">
            <a:solidFill>
              <a:srgbClr val="0A192F"/>
            </a:solidFill>
            <a:prstDash val="solid"/>
          </a:ln>
        </p:spPr>
      </p:sp>
      <p:sp>
        <p:nvSpPr>
          <p:cNvPr id="13" name="Text 9"/>
          <p:cNvSpPr/>
          <p:nvPr/>
        </p:nvSpPr>
        <p:spPr>
          <a:xfrm>
            <a:off x="571500" y="2656582"/>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Used for complex data that needs better grouping</a:t>
            </a:r>
            <a:endParaRPr lang="en-US" sz="1250" dirty="0"/>
          </a:p>
        </p:txBody>
      </p:sp>
      <p:sp>
        <p:nvSpPr>
          <p:cNvPr id="14" name="Shape 10"/>
          <p:cNvSpPr/>
          <p:nvPr/>
        </p:nvSpPr>
        <p:spPr>
          <a:xfrm>
            <a:off x="571500" y="3400871"/>
            <a:ext cx="85725" cy="85725"/>
          </a:xfrm>
          <a:prstGeom prst="rect">
            <a:avLst/>
          </a:prstGeom>
          <a:solidFill>
            <a:srgbClr val="FF6B35"/>
          </a:solidFill>
          <a:ln w="9144">
            <a:solidFill>
              <a:srgbClr val="0A192F"/>
            </a:solidFill>
            <a:prstDash val="solid"/>
          </a:ln>
        </p:spPr>
      </p:sp>
      <p:sp>
        <p:nvSpPr>
          <p:cNvPr id="15" name="Text 11"/>
          <p:cNvSpPr/>
          <p:nvPr/>
        </p:nvSpPr>
        <p:spPr>
          <a:xfrm>
            <a:off x="571500" y="3315146"/>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Main concepts: Generalization and Specialization</a:t>
            </a:r>
            <a:endParaRPr lang="en-US" sz="1250" dirty="0"/>
          </a:p>
        </p:txBody>
      </p:sp>
      <p:sp>
        <p:nvSpPr>
          <p:cNvPr id="16" name="Shape 12"/>
          <p:cNvSpPr/>
          <p:nvPr/>
        </p:nvSpPr>
        <p:spPr>
          <a:xfrm>
            <a:off x="571500" y="4059436"/>
            <a:ext cx="85725" cy="85725"/>
          </a:xfrm>
          <a:prstGeom prst="rect">
            <a:avLst/>
          </a:prstGeom>
          <a:solidFill>
            <a:srgbClr val="FF6B35"/>
          </a:solidFill>
          <a:ln w="9144">
            <a:solidFill>
              <a:srgbClr val="0A192F"/>
            </a:solidFill>
            <a:prstDash val="solid"/>
          </a:ln>
        </p:spPr>
      </p:sp>
      <p:sp>
        <p:nvSpPr>
          <p:cNvPr id="17" name="Text 13"/>
          <p:cNvSpPr/>
          <p:nvPr/>
        </p:nvSpPr>
        <p:spPr>
          <a:xfrm>
            <a:off x="571500" y="3973711"/>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University Example: Grouping students and staff</a:t>
            </a:r>
            <a:endParaRPr lang="en-US" sz="1250" dirty="0"/>
          </a:p>
        </p:txBody>
      </p:sp>
      <p:sp>
        <p:nvSpPr>
          <p:cNvPr id="18" name="Shape 14"/>
          <p:cNvSpPr/>
          <p:nvPr/>
        </p:nvSpPr>
        <p:spPr>
          <a:xfrm>
            <a:off x="571500" y="4718000"/>
            <a:ext cx="85725" cy="85725"/>
          </a:xfrm>
          <a:prstGeom prst="rect">
            <a:avLst/>
          </a:prstGeom>
          <a:solidFill>
            <a:srgbClr val="FF6B35"/>
          </a:solidFill>
          <a:ln w="9144">
            <a:solidFill>
              <a:srgbClr val="0A192F"/>
            </a:solidFill>
            <a:prstDash val="solid"/>
          </a:ln>
        </p:spPr>
      </p:sp>
      <p:sp>
        <p:nvSpPr>
          <p:cNvPr id="19" name="Text 15"/>
          <p:cNvSpPr/>
          <p:nvPr/>
        </p:nvSpPr>
        <p:spPr>
          <a:xfrm>
            <a:off x="571500" y="4632275"/>
            <a:ext cx="3707606"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Goal: Make database design more organized</a:t>
            </a:r>
            <a:endParaRPr lang="en-US" sz="1250" dirty="0"/>
          </a:p>
        </p:txBody>
      </p:sp>
      <p:sp>
        <p:nvSpPr>
          <p:cNvPr id="20" name="Shape 16"/>
          <p:cNvSpPr/>
          <p:nvPr/>
        </p:nvSpPr>
        <p:spPr>
          <a:xfrm>
            <a:off x="4572000" y="1053703"/>
            <a:ext cx="4286250" cy="4522887"/>
          </a:xfrm>
          <a:prstGeom prst="rect">
            <a:avLst/>
          </a:prstGeom>
          <a:solidFill>
            <a:srgbClr val="FFFFFF"/>
          </a:solidFill>
          <a:ln/>
        </p:spPr>
      </p:sp>
      <p:sp>
        <p:nvSpPr>
          <p:cNvPr id="21" name="Shape 17"/>
          <p:cNvSpPr/>
          <p:nvPr/>
        </p:nvSpPr>
        <p:spPr>
          <a:xfrm>
            <a:off x="5286375" y="1547068"/>
            <a:ext cx="2857500" cy="2857500"/>
          </a:xfrm>
          <a:prstGeom prst="rect">
            <a:avLst/>
          </a:prstGeom>
          <a:solidFill>
            <a:srgbClr val="ADD8E6">
              <a:alpha val="10000"/>
            </a:srgbClr>
          </a:solidFill>
          <a:ln w="9144">
            <a:solidFill>
              <a:srgbClr val="0A192F"/>
            </a:solidFill>
            <a:prstDash val="solid"/>
          </a:ln>
        </p:spPr>
      </p:sp>
      <p:sp>
        <p:nvSpPr>
          <p:cNvPr id="22" name="Shape 18"/>
          <p:cNvSpPr/>
          <p:nvPr/>
        </p:nvSpPr>
        <p:spPr>
          <a:xfrm>
            <a:off x="6179344" y="1904256"/>
            <a:ext cx="1071563" cy="571500"/>
          </a:xfrm>
          <a:prstGeom prst="rect">
            <a:avLst/>
          </a:prstGeom>
          <a:solidFill>
            <a:srgbClr val="ADD8E6"/>
          </a:solidFill>
          <a:ln w="9144">
            <a:solidFill>
              <a:srgbClr val="0A192F"/>
            </a:solidFill>
            <a:prstDash val="solid"/>
          </a:ln>
        </p:spPr>
      </p:sp>
      <p:sp>
        <p:nvSpPr>
          <p:cNvPr id="23" name="Text 19"/>
          <p:cNvSpPr/>
          <p:nvPr/>
        </p:nvSpPr>
        <p:spPr>
          <a:xfrm>
            <a:off x="6179344" y="1904256"/>
            <a:ext cx="1071563" cy="571500"/>
          </a:xfrm>
          <a:prstGeom prst="rect">
            <a:avLst/>
          </a:prstGeom>
          <a:noFill/>
          <a:ln/>
        </p:spPr>
        <p:txBody>
          <a:bodyPr wrap="none" lIns="0" tIns="0" rIns="0" bIns="0" rtlCol="0" anchor="ctr">
            <a:spAutoFit/>
          </a:bodyPr>
          <a:lstStyle/>
          <a:p>
            <a:pPr algn="ctr" indent="0" marL="0">
              <a:buNone/>
            </a:pPr>
            <a:r>
              <a:rPr lang="en-US" sz="900" b="1" dirty="0">
                <a:solidFill>
                  <a:srgbClr val="0A192F"/>
                </a:solidFill>
                <a:latin typeface="Poppins SemiBold" pitchFamily="34" charset="0"/>
                <a:ea typeface="Poppins SemiBold" pitchFamily="34" charset="-122"/>
                <a:cs typeface="Poppins SemiBold" pitchFamily="34" charset="-120"/>
              </a:rPr>
              <a:t>Basic ER</a:t>
            </a:r>
            <a:endParaRPr lang="en-US" sz="900" dirty="0"/>
          </a:p>
        </p:txBody>
      </p:sp>
      <p:sp>
        <p:nvSpPr>
          <p:cNvPr id="24" name="Text 20"/>
          <p:cNvSpPr/>
          <p:nvPr/>
        </p:nvSpPr>
        <p:spPr>
          <a:xfrm>
            <a:off x="6607969" y="2618631"/>
            <a:ext cx="196453" cy="428625"/>
          </a:xfrm>
          <a:prstGeom prst="rect">
            <a:avLst/>
          </a:prstGeom>
          <a:noFill/>
          <a:ln/>
        </p:spPr>
        <p:txBody>
          <a:bodyPr wrap="none" lIns="0" tIns="0" rIns="0" bIns="0" rtlCol="0" anchor="t">
            <a:spAutoFit/>
          </a:bodyPr>
          <a:lstStyle/>
          <a:p>
            <a:pPr algn="l" indent="0" marL="0">
              <a:buNone/>
            </a:pPr>
            <a:r>
              <a:rPr lang="en-US" sz="2150" dirty="0">
                <a:solidFill>
                  <a:srgbClr val="FF6B35"/>
                </a:solidFill>
                <a:latin typeface="Poppins" pitchFamily="34" charset="0"/>
                <a:ea typeface="Poppins" pitchFamily="34" charset="-122"/>
                <a:cs typeface="Poppins" pitchFamily="34" charset="-120"/>
              </a:rPr>
              <a:t>+</a:t>
            </a:r>
            <a:endParaRPr lang="en-US" sz="2150" dirty="0"/>
          </a:p>
        </p:txBody>
      </p:sp>
      <p:sp>
        <p:nvSpPr>
          <p:cNvPr id="25" name="Shape 21"/>
          <p:cNvSpPr/>
          <p:nvPr/>
        </p:nvSpPr>
        <p:spPr>
          <a:xfrm>
            <a:off x="5822156" y="3333006"/>
            <a:ext cx="1785938" cy="714375"/>
          </a:xfrm>
          <a:prstGeom prst="rect">
            <a:avLst/>
          </a:prstGeom>
          <a:solidFill>
            <a:srgbClr val="FFDAB9"/>
          </a:solidFill>
          <a:ln w="18288">
            <a:solidFill>
              <a:srgbClr val="0A192F"/>
            </a:solidFill>
            <a:prstDash val="solid"/>
          </a:ln>
        </p:spPr>
      </p:sp>
      <p:sp>
        <p:nvSpPr>
          <p:cNvPr id="26" name="Text 22"/>
          <p:cNvSpPr/>
          <p:nvPr/>
        </p:nvSpPr>
        <p:spPr>
          <a:xfrm>
            <a:off x="5925741" y="3591967"/>
            <a:ext cx="1235869" cy="196453"/>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Enhanced Features</a:t>
            </a:r>
            <a:endParaRPr lang="en-US" sz="900" dirty="0"/>
          </a:p>
        </p:txBody>
      </p:sp>
      <p:sp>
        <p:nvSpPr>
          <p:cNvPr id="27" name="Text 23"/>
          <p:cNvSpPr/>
          <p:nvPr/>
        </p:nvSpPr>
        <p:spPr>
          <a:xfrm>
            <a:off x="7161609" y="3591967"/>
            <a:ext cx="342900" cy="196453"/>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(EER)</a:t>
            </a:r>
            <a:endParaRPr lang="en-US" sz="900" dirty="0"/>
          </a:p>
        </p:txBody>
      </p:sp>
      <p:pic>
        <p:nvPicPr>
          <p:cNvPr id="28" name="Image 1" descr="preencoded.png">    </p:cNvPr>
          <p:cNvPicPr>
            <a:picLocks noChangeAspect="1"/>
          </p:cNvPicPr>
          <p:nvPr/>
        </p:nvPicPr>
        <p:blipFill>
          <a:blip r:embed="rId2"/>
          <a:stretch>
            <a:fillRect/>
          </a:stretch>
        </p:blipFill>
        <p:spPr>
          <a:xfrm>
            <a:off x="6513314" y="4629596"/>
            <a:ext cx="403622" cy="3571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71450" y="171450"/>
            <a:ext cx="8801100" cy="4800600"/>
          </a:xfrm>
          <a:prstGeom prst="rect">
            <a:avLst/>
          </a:prstGeom>
          <a:solidFill>
            <a:srgbClr val="000000">
              <a:alpha val="0"/>
            </a:srgbClr>
          </a:solidFill>
          <a:ln w="9144">
            <a:solidFill>
              <a:srgbClr val="0A192F"/>
            </a:solidFill>
            <a:prstDash val="solid"/>
          </a:ln>
        </p:spPr>
      </p:sp>
      <p:sp>
        <p:nvSpPr>
          <p:cNvPr id="5" name="Shape 1"/>
          <p:cNvSpPr/>
          <p:nvPr/>
        </p:nvSpPr>
        <p:spPr>
          <a:xfrm>
            <a:off x="171450" y="171450"/>
            <a:ext cx="8801100" cy="775097"/>
          </a:xfrm>
          <a:prstGeom prst="rect">
            <a:avLst/>
          </a:prstGeom>
          <a:solidFill>
            <a:srgbClr val="0056B3">
              <a:alpha val="5000"/>
            </a:srgbClr>
          </a:solidFill>
          <a:ln/>
        </p:spPr>
      </p:sp>
      <p:sp>
        <p:nvSpPr>
          <p:cNvPr id="6" name="Shape 2"/>
          <p:cNvSpPr/>
          <p:nvPr/>
        </p:nvSpPr>
        <p:spPr>
          <a:xfrm>
            <a:off x="171450" y="939403"/>
            <a:ext cx="8801100" cy="7144"/>
          </a:xfrm>
          <a:prstGeom prst="rect">
            <a:avLst/>
          </a:prstGeom>
          <a:solidFill>
            <a:srgbClr val="0A192F"/>
          </a:solidFill>
          <a:ln/>
        </p:spPr>
      </p:sp>
      <p:sp>
        <p:nvSpPr>
          <p:cNvPr id="7" name="Text 3"/>
          <p:cNvSpPr/>
          <p:nvPr/>
        </p:nvSpPr>
        <p:spPr>
          <a:xfrm>
            <a:off x="457200" y="385763"/>
            <a:ext cx="82296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GENERALIZATION AND SPECIALIZATION</a:t>
            </a:r>
            <a:endParaRPr lang="en-US" sz="1800" dirty="0"/>
          </a:p>
        </p:txBody>
      </p:sp>
      <p:sp>
        <p:nvSpPr>
          <p:cNvPr id="8" name="Text 4"/>
          <p:cNvSpPr/>
          <p:nvPr/>
        </p:nvSpPr>
        <p:spPr>
          <a:xfrm>
            <a:off x="400050" y="1168003"/>
            <a:ext cx="3936206" cy="296466"/>
          </a:xfrm>
          <a:prstGeom prst="rect">
            <a:avLst/>
          </a:prstGeom>
          <a:noFill/>
          <a:ln/>
        </p:spPr>
        <p:txBody>
          <a:bodyPr wrap="square" lIns="0" tIns="85090" rIns="0" bIns="0" rtlCol="0" anchor="t">
            <a:spAutoFit/>
          </a:bodyPr>
          <a:lstStyle/>
          <a:p>
            <a:pPr algn="l" indent="0" marL="0">
              <a:buNone/>
            </a:pPr>
            <a:r>
              <a:rPr lang="en-US" sz="1200" b="1" dirty="0">
                <a:solidFill>
                  <a:srgbClr val="FF6B35"/>
                </a:solidFill>
                <a:latin typeface="Roboto Mono Bold" pitchFamily="34" charset="0"/>
                <a:ea typeface="Roboto Mono Bold" pitchFamily="34" charset="-122"/>
                <a:cs typeface="Roboto Mono Bold" pitchFamily="34" charset="-120"/>
              </a:rPr>
              <a:t>Generalization (Bottom-Up)</a:t>
            </a:r>
            <a:endParaRPr lang="en-US" sz="1200" dirty="0"/>
          </a:p>
        </p:txBody>
      </p:sp>
      <p:sp>
        <p:nvSpPr>
          <p:cNvPr id="9" name="Shape 5"/>
          <p:cNvSpPr/>
          <p:nvPr/>
        </p:nvSpPr>
        <p:spPr>
          <a:xfrm>
            <a:off x="400050" y="1664494"/>
            <a:ext cx="57150" cy="57150"/>
          </a:xfrm>
          <a:prstGeom prst="rect">
            <a:avLst/>
          </a:prstGeom>
          <a:solidFill>
            <a:srgbClr val="0056B3"/>
          </a:solidFill>
          <a:ln w="9144">
            <a:solidFill>
              <a:srgbClr val="0A192F"/>
            </a:solidFill>
            <a:prstDash val="solid"/>
          </a:ln>
        </p:spPr>
      </p:sp>
      <p:sp>
        <p:nvSpPr>
          <p:cNvPr id="10" name="Text 6"/>
          <p:cNvSpPr/>
          <p:nvPr/>
        </p:nvSpPr>
        <p:spPr>
          <a:xfrm>
            <a:off x="400050" y="1607344"/>
            <a:ext cx="3936206"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Combining small groups into one big group</a:t>
            </a:r>
            <a:endParaRPr lang="en-US" sz="950" dirty="0"/>
          </a:p>
        </p:txBody>
      </p:sp>
      <p:sp>
        <p:nvSpPr>
          <p:cNvPr id="11" name="Shape 7"/>
          <p:cNvSpPr/>
          <p:nvPr/>
        </p:nvSpPr>
        <p:spPr>
          <a:xfrm>
            <a:off x="400050" y="1915920"/>
            <a:ext cx="57150" cy="57150"/>
          </a:xfrm>
          <a:prstGeom prst="rect">
            <a:avLst/>
          </a:prstGeom>
          <a:solidFill>
            <a:srgbClr val="0056B3"/>
          </a:solidFill>
          <a:ln w="9144">
            <a:solidFill>
              <a:srgbClr val="0A192F"/>
            </a:solidFill>
            <a:prstDash val="solid"/>
          </a:ln>
        </p:spPr>
      </p:sp>
      <p:sp>
        <p:nvSpPr>
          <p:cNvPr id="12" name="Text 8"/>
          <p:cNvSpPr/>
          <p:nvPr/>
        </p:nvSpPr>
        <p:spPr>
          <a:xfrm>
            <a:off x="400050" y="1858770"/>
            <a:ext cx="3936206"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Example: UG and PG Students become "Student"</a:t>
            </a:r>
            <a:endParaRPr lang="en-US" sz="950" dirty="0"/>
          </a:p>
        </p:txBody>
      </p:sp>
      <p:sp>
        <p:nvSpPr>
          <p:cNvPr id="13" name="Shape 9"/>
          <p:cNvSpPr/>
          <p:nvPr/>
        </p:nvSpPr>
        <p:spPr>
          <a:xfrm>
            <a:off x="400050" y="2167347"/>
            <a:ext cx="57150" cy="57150"/>
          </a:xfrm>
          <a:prstGeom prst="rect">
            <a:avLst/>
          </a:prstGeom>
          <a:solidFill>
            <a:srgbClr val="0056B3"/>
          </a:solidFill>
          <a:ln w="9144">
            <a:solidFill>
              <a:srgbClr val="0A192F"/>
            </a:solidFill>
            <a:prstDash val="solid"/>
          </a:ln>
        </p:spPr>
      </p:sp>
      <p:sp>
        <p:nvSpPr>
          <p:cNvPr id="14" name="Text 10"/>
          <p:cNvSpPr/>
          <p:nvPr/>
        </p:nvSpPr>
        <p:spPr>
          <a:xfrm>
            <a:off x="400050" y="2110197"/>
            <a:ext cx="3936206"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Reduces repeated data in the database</a:t>
            </a:r>
            <a:endParaRPr lang="en-US" sz="950" dirty="0"/>
          </a:p>
        </p:txBody>
      </p:sp>
      <p:sp>
        <p:nvSpPr>
          <p:cNvPr id="15" name="Shape 11"/>
          <p:cNvSpPr/>
          <p:nvPr/>
        </p:nvSpPr>
        <p:spPr>
          <a:xfrm>
            <a:off x="400050" y="2418773"/>
            <a:ext cx="57150" cy="57150"/>
          </a:xfrm>
          <a:prstGeom prst="rect">
            <a:avLst/>
          </a:prstGeom>
          <a:solidFill>
            <a:srgbClr val="0056B3"/>
          </a:solidFill>
          <a:ln w="9144">
            <a:solidFill>
              <a:srgbClr val="0A192F"/>
            </a:solidFill>
            <a:prstDash val="solid"/>
          </a:ln>
        </p:spPr>
      </p:sp>
      <p:sp>
        <p:nvSpPr>
          <p:cNvPr id="16" name="Text 12"/>
          <p:cNvSpPr/>
          <p:nvPr/>
        </p:nvSpPr>
        <p:spPr>
          <a:xfrm>
            <a:off x="400050" y="2361623"/>
            <a:ext cx="3936206"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Helps in grouping similar objects together</a:t>
            </a:r>
            <a:endParaRPr lang="en-US" sz="950" dirty="0"/>
          </a:p>
        </p:txBody>
      </p:sp>
      <p:sp>
        <p:nvSpPr>
          <p:cNvPr id="17" name="Shape 13"/>
          <p:cNvSpPr/>
          <p:nvPr/>
        </p:nvSpPr>
        <p:spPr>
          <a:xfrm>
            <a:off x="400050" y="2784500"/>
            <a:ext cx="3936206" cy="1958950"/>
          </a:xfrm>
          <a:prstGeom prst="rect">
            <a:avLst/>
          </a:prstGeom>
          <a:solidFill>
            <a:srgbClr val="FFFFFF"/>
          </a:solidFill>
          <a:ln w="9144">
            <a:solidFill>
              <a:srgbClr val="0A192F">
                <a:alpha val="10000"/>
              </a:srgbClr>
            </a:solidFill>
            <a:prstDash val="solid"/>
          </a:ln>
        </p:spPr>
      </p:sp>
      <p:sp>
        <p:nvSpPr>
          <p:cNvPr id="18" name="Shape 14"/>
          <p:cNvSpPr/>
          <p:nvPr/>
        </p:nvSpPr>
        <p:spPr>
          <a:xfrm>
            <a:off x="2010966" y="2998812"/>
            <a:ext cx="714375" cy="285750"/>
          </a:xfrm>
          <a:prstGeom prst="rect">
            <a:avLst/>
          </a:prstGeom>
          <a:solidFill>
            <a:srgbClr val="ADD8E6"/>
          </a:solidFill>
          <a:ln w="9144">
            <a:solidFill>
              <a:srgbClr val="0A192F"/>
            </a:solidFill>
            <a:prstDash val="solid"/>
          </a:ln>
        </p:spPr>
      </p:sp>
      <p:sp>
        <p:nvSpPr>
          <p:cNvPr id="19" name="Text 15"/>
          <p:cNvSpPr/>
          <p:nvPr/>
        </p:nvSpPr>
        <p:spPr>
          <a:xfrm>
            <a:off x="2010966" y="2998812"/>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STUDENT</a:t>
            </a:r>
            <a:endParaRPr lang="en-US" sz="600" dirty="0"/>
          </a:p>
        </p:txBody>
      </p:sp>
      <p:sp>
        <p:nvSpPr>
          <p:cNvPr id="20" name="Text 16"/>
          <p:cNvSpPr/>
          <p:nvPr/>
        </p:nvSpPr>
        <p:spPr>
          <a:xfrm>
            <a:off x="2296716" y="3799694"/>
            <a:ext cx="107156" cy="107156"/>
          </a:xfrm>
          <a:prstGeom prst="rect">
            <a:avLst/>
          </a:prstGeom>
          <a:noFill/>
          <a:ln/>
        </p:spPr>
        <p:txBody>
          <a:bodyPr wrap="none" lIns="0" tIns="0" rIns="0" bIns="0" rtlCol="0" anchor="t">
            <a:spAutoFit/>
          </a:bodyPr>
          <a:lstStyle/>
          <a:p>
            <a:pPr algn="l" indent="0" marL="0">
              <a:buNone/>
            </a:pPr>
            <a:r>
              <a:rPr lang="en-US" sz="500" dirty="0">
                <a:solidFill>
                  <a:srgbClr val="0A192F"/>
                </a:solidFill>
                <a:latin typeface="Poppins" pitchFamily="34" charset="0"/>
                <a:ea typeface="Poppins" pitchFamily="34" charset="-122"/>
                <a:cs typeface="Poppins" pitchFamily="34" charset="-120"/>
              </a:rPr>
              <a:t>ISA</a:t>
            </a:r>
            <a:endParaRPr lang="en-US" sz="500" dirty="0"/>
          </a:p>
        </p:txBody>
      </p:sp>
      <p:sp>
        <p:nvSpPr>
          <p:cNvPr id="21" name="Shape 17"/>
          <p:cNvSpPr/>
          <p:nvPr/>
        </p:nvSpPr>
        <p:spPr>
          <a:xfrm>
            <a:off x="685800" y="4243388"/>
            <a:ext cx="714375" cy="285750"/>
          </a:xfrm>
          <a:prstGeom prst="rect">
            <a:avLst/>
          </a:prstGeom>
          <a:solidFill>
            <a:srgbClr val="ADD8E6"/>
          </a:solidFill>
          <a:ln w="9144">
            <a:solidFill>
              <a:srgbClr val="0A192F"/>
            </a:solidFill>
            <a:prstDash val="solid"/>
          </a:ln>
        </p:spPr>
      </p:sp>
      <p:sp>
        <p:nvSpPr>
          <p:cNvPr id="22" name="Text 18"/>
          <p:cNvSpPr/>
          <p:nvPr/>
        </p:nvSpPr>
        <p:spPr>
          <a:xfrm>
            <a:off x="685800" y="4243388"/>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UG STUDENT</a:t>
            </a:r>
            <a:endParaRPr lang="en-US" sz="600" dirty="0"/>
          </a:p>
        </p:txBody>
      </p:sp>
      <p:sp>
        <p:nvSpPr>
          <p:cNvPr id="23" name="Shape 19"/>
          <p:cNvSpPr/>
          <p:nvPr/>
        </p:nvSpPr>
        <p:spPr>
          <a:xfrm>
            <a:off x="3336131" y="4243388"/>
            <a:ext cx="714375" cy="285750"/>
          </a:xfrm>
          <a:prstGeom prst="rect">
            <a:avLst/>
          </a:prstGeom>
          <a:solidFill>
            <a:srgbClr val="ADD8E6"/>
          </a:solidFill>
          <a:ln w="9144">
            <a:solidFill>
              <a:srgbClr val="0A192F"/>
            </a:solidFill>
            <a:prstDash val="solid"/>
          </a:ln>
        </p:spPr>
      </p:sp>
      <p:sp>
        <p:nvSpPr>
          <p:cNvPr id="24" name="Text 20"/>
          <p:cNvSpPr/>
          <p:nvPr/>
        </p:nvSpPr>
        <p:spPr>
          <a:xfrm>
            <a:off x="3336131" y="4243388"/>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PG STUDENT</a:t>
            </a:r>
            <a:endParaRPr lang="en-US" sz="600" dirty="0"/>
          </a:p>
        </p:txBody>
      </p:sp>
      <p:sp>
        <p:nvSpPr>
          <p:cNvPr id="25" name="Text 21"/>
          <p:cNvSpPr/>
          <p:nvPr/>
        </p:nvSpPr>
        <p:spPr>
          <a:xfrm>
            <a:off x="4800600" y="1168003"/>
            <a:ext cx="3943350" cy="296466"/>
          </a:xfrm>
          <a:prstGeom prst="rect">
            <a:avLst/>
          </a:prstGeom>
          <a:noFill/>
          <a:ln/>
        </p:spPr>
        <p:txBody>
          <a:bodyPr wrap="square" lIns="0" tIns="85090" rIns="0" bIns="0" rtlCol="0" anchor="t">
            <a:spAutoFit/>
          </a:bodyPr>
          <a:lstStyle/>
          <a:p>
            <a:pPr algn="l" indent="0" marL="0">
              <a:buNone/>
            </a:pPr>
            <a:r>
              <a:rPr lang="en-US" sz="1200" b="1" dirty="0">
                <a:solidFill>
                  <a:srgbClr val="FF6B35"/>
                </a:solidFill>
                <a:latin typeface="Roboto Mono Bold" pitchFamily="34" charset="0"/>
                <a:ea typeface="Roboto Mono Bold" pitchFamily="34" charset="-122"/>
                <a:cs typeface="Roboto Mono Bold" pitchFamily="34" charset="-120"/>
              </a:rPr>
              <a:t>Specialization (Top-Down)</a:t>
            </a:r>
            <a:endParaRPr lang="en-US" sz="1200" dirty="0"/>
          </a:p>
        </p:txBody>
      </p:sp>
      <p:sp>
        <p:nvSpPr>
          <p:cNvPr id="26" name="Shape 22"/>
          <p:cNvSpPr/>
          <p:nvPr/>
        </p:nvSpPr>
        <p:spPr>
          <a:xfrm>
            <a:off x="4800600" y="1664494"/>
            <a:ext cx="57150" cy="57150"/>
          </a:xfrm>
          <a:prstGeom prst="rect">
            <a:avLst/>
          </a:prstGeom>
          <a:solidFill>
            <a:srgbClr val="0056B3"/>
          </a:solidFill>
          <a:ln w="9144">
            <a:solidFill>
              <a:srgbClr val="0A192F"/>
            </a:solidFill>
            <a:prstDash val="solid"/>
          </a:ln>
        </p:spPr>
      </p:sp>
      <p:sp>
        <p:nvSpPr>
          <p:cNvPr id="27" name="Text 23"/>
          <p:cNvSpPr/>
          <p:nvPr/>
        </p:nvSpPr>
        <p:spPr>
          <a:xfrm>
            <a:off x="4800600" y="1607344"/>
            <a:ext cx="3943350"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Breaking a big group into smaller ones</a:t>
            </a:r>
            <a:endParaRPr lang="en-US" sz="950" dirty="0"/>
          </a:p>
        </p:txBody>
      </p:sp>
      <p:sp>
        <p:nvSpPr>
          <p:cNvPr id="28" name="Shape 24"/>
          <p:cNvSpPr/>
          <p:nvPr/>
        </p:nvSpPr>
        <p:spPr>
          <a:xfrm>
            <a:off x="4800600" y="1915920"/>
            <a:ext cx="57150" cy="57150"/>
          </a:xfrm>
          <a:prstGeom prst="rect">
            <a:avLst/>
          </a:prstGeom>
          <a:solidFill>
            <a:srgbClr val="0056B3"/>
          </a:solidFill>
          <a:ln w="9144">
            <a:solidFill>
              <a:srgbClr val="0A192F"/>
            </a:solidFill>
            <a:prstDash val="solid"/>
          </a:ln>
        </p:spPr>
      </p:sp>
      <p:sp>
        <p:nvSpPr>
          <p:cNvPr id="29" name="Text 25"/>
          <p:cNvSpPr/>
          <p:nvPr/>
        </p:nvSpPr>
        <p:spPr>
          <a:xfrm>
            <a:off x="4800600" y="1858770"/>
            <a:ext cx="3943350"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Example: "Employee" becomes Professor or Staff</a:t>
            </a:r>
            <a:endParaRPr lang="en-US" sz="950" dirty="0"/>
          </a:p>
        </p:txBody>
      </p:sp>
      <p:sp>
        <p:nvSpPr>
          <p:cNvPr id="30" name="Shape 26"/>
          <p:cNvSpPr/>
          <p:nvPr/>
        </p:nvSpPr>
        <p:spPr>
          <a:xfrm>
            <a:off x="4800600" y="2167347"/>
            <a:ext cx="57150" cy="57150"/>
          </a:xfrm>
          <a:prstGeom prst="rect">
            <a:avLst/>
          </a:prstGeom>
          <a:solidFill>
            <a:srgbClr val="0056B3"/>
          </a:solidFill>
          <a:ln w="9144">
            <a:solidFill>
              <a:srgbClr val="0A192F"/>
            </a:solidFill>
            <a:prstDash val="solid"/>
          </a:ln>
        </p:spPr>
      </p:sp>
      <p:sp>
        <p:nvSpPr>
          <p:cNvPr id="31" name="Text 27"/>
          <p:cNvSpPr/>
          <p:nvPr/>
        </p:nvSpPr>
        <p:spPr>
          <a:xfrm>
            <a:off x="4800600" y="2110197"/>
            <a:ext cx="3943350"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Used when sub-groups have unique details</a:t>
            </a:r>
            <a:endParaRPr lang="en-US" sz="950" dirty="0"/>
          </a:p>
        </p:txBody>
      </p:sp>
      <p:sp>
        <p:nvSpPr>
          <p:cNvPr id="32" name="Shape 28"/>
          <p:cNvSpPr/>
          <p:nvPr/>
        </p:nvSpPr>
        <p:spPr>
          <a:xfrm>
            <a:off x="4800600" y="2418773"/>
            <a:ext cx="57150" cy="57150"/>
          </a:xfrm>
          <a:prstGeom prst="rect">
            <a:avLst/>
          </a:prstGeom>
          <a:solidFill>
            <a:srgbClr val="0056B3"/>
          </a:solidFill>
          <a:ln w="9144">
            <a:solidFill>
              <a:srgbClr val="0A192F"/>
            </a:solidFill>
            <a:prstDash val="solid"/>
          </a:ln>
        </p:spPr>
      </p:sp>
      <p:sp>
        <p:nvSpPr>
          <p:cNvPr id="33" name="Text 29"/>
          <p:cNvSpPr/>
          <p:nvPr/>
        </p:nvSpPr>
        <p:spPr>
          <a:xfrm>
            <a:off x="4800600" y="2361623"/>
            <a:ext cx="3943350" cy="179989"/>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0A192F"/>
                </a:solidFill>
                <a:latin typeface="Poppins" pitchFamily="34" charset="0"/>
                <a:ea typeface="Poppins" pitchFamily="34" charset="-122"/>
                <a:cs typeface="Poppins" pitchFamily="34" charset="-120"/>
              </a:rPr>
              <a:t>Saves storage space by being specific</a:t>
            </a:r>
            <a:endParaRPr lang="en-US" sz="950" dirty="0"/>
          </a:p>
        </p:txBody>
      </p:sp>
      <p:sp>
        <p:nvSpPr>
          <p:cNvPr id="34" name="Shape 30"/>
          <p:cNvSpPr/>
          <p:nvPr/>
        </p:nvSpPr>
        <p:spPr>
          <a:xfrm>
            <a:off x="4800600" y="2784500"/>
            <a:ext cx="3943350" cy="1958950"/>
          </a:xfrm>
          <a:prstGeom prst="rect">
            <a:avLst/>
          </a:prstGeom>
          <a:solidFill>
            <a:srgbClr val="FFFFFF"/>
          </a:solidFill>
          <a:ln w="9144">
            <a:solidFill>
              <a:srgbClr val="0A192F">
                <a:alpha val="10000"/>
              </a:srgbClr>
            </a:solidFill>
            <a:prstDash val="solid"/>
          </a:ln>
        </p:spPr>
      </p:sp>
      <p:sp>
        <p:nvSpPr>
          <p:cNvPr id="35" name="Shape 31"/>
          <p:cNvSpPr/>
          <p:nvPr/>
        </p:nvSpPr>
        <p:spPr>
          <a:xfrm>
            <a:off x="6415088" y="2998812"/>
            <a:ext cx="714375" cy="285750"/>
          </a:xfrm>
          <a:prstGeom prst="rect">
            <a:avLst/>
          </a:prstGeom>
          <a:solidFill>
            <a:srgbClr val="E6E6FA"/>
          </a:solidFill>
          <a:ln w="9144">
            <a:solidFill>
              <a:srgbClr val="0A192F"/>
            </a:solidFill>
            <a:prstDash val="solid"/>
          </a:ln>
        </p:spPr>
      </p:sp>
      <p:sp>
        <p:nvSpPr>
          <p:cNvPr id="36" name="Text 32"/>
          <p:cNvSpPr/>
          <p:nvPr/>
        </p:nvSpPr>
        <p:spPr>
          <a:xfrm>
            <a:off x="6415088" y="2998812"/>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EMPLOYEE</a:t>
            </a:r>
            <a:endParaRPr lang="en-US" sz="600" dirty="0"/>
          </a:p>
        </p:txBody>
      </p:sp>
      <p:sp>
        <p:nvSpPr>
          <p:cNvPr id="37" name="Text 33"/>
          <p:cNvSpPr/>
          <p:nvPr/>
        </p:nvSpPr>
        <p:spPr>
          <a:xfrm>
            <a:off x="6700838" y="3799694"/>
            <a:ext cx="107156" cy="107156"/>
          </a:xfrm>
          <a:prstGeom prst="rect">
            <a:avLst/>
          </a:prstGeom>
          <a:noFill/>
          <a:ln/>
        </p:spPr>
        <p:txBody>
          <a:bodyPr wrap="none" lIns="0" tIns="0" rIns="0" bIns="0" rtlCol="0" anchor="t">
            <a:spAutoFit/>
          </a:bodyPr>
          <a:lstStyle/>
          <a:p>
            <a:pPr algn="l" indent="0" marL="0">
              <a:buNone/>
            </a:pPr>
            <a:r>
              <a:rPr lang="en-US" sz="500" dirty="0">
                <a:solidFill>
                  <a:srgbClr val="0A192F"/>
                </a:solidFill>
                <a:latin typeface="Poppins" pitchFamily="34" charset="0"/>
                <a:ea typeface="Poppins" pitchFamily="34" charset="-122"/>
                <a:cs typeface="Poppins" pitchFamily="34" charset="-120"/>
              </a:rPr>
              <a:t>ISA</a:t>
            </a:r>
            <a:endParaRPr lang="en-US" sz="500" dirty="0"/>
          </a:p>
        </p:txBody>
      </p:sp>
      <p:sp>
        <p:nvSpPr>
          <p:cNvPr id="38" name="Shape 34"/>
          <p:cNvSpPr/>
          <p:nvPr/>
        </p:nvSpPr>
        <p:spPr>
          <a:xfrm>
            <a:off x="5086350" y="4243388"/>
            <a:ext cx="714375" cy="285750"/>
          </a:xfrm>
          <a:prstGeom prst="rect">
            <a:avLst/>
          </a:prstGeom>
          <a:solidFill>
            <a:srgbClr val="E6E6FA"/>
          </a:solidFill>
          <a:ln w="9144">
            <a:solidFill>
              <a:srgbClr val="0A192F"/>
            </a:solidFill>
            <a:prstDash val="solid"/>
          </a:ln>
        </p:spPr>
      </p:sp>
      <p:sp>
        <p:nvSpPr>
          <p:cNvPr id="39" name="Text 35"/>
          <p:cNvSpPr/>
          <p:nvPr/>
        </p:nvSpPr>
        <p:spPr>
          <a:xfrm>
            <a:off x="5086350" y="4243388"/>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PROFESSOR</a:t>
            </a:r>
            <a:endParaRPr lang="en-US" sz="600" dirty="0"/>
          </a:p>
        </p:txBody>
      </p:sp>
      <p:sp>
        <p:nvSpPr>
          <p:cNvPr id="40" name="Shape 36"/>
          <p:cNvSpPr/>
          <p:nvPr/>
        </p:nvSpPr>
        <p:spPr>
          <a:xfrm>
            <a:off x="7743825" y="4243388"/>
            <a:ext cx="714375" cy="285750"/>
          </a:xfrm>
          <a:prstGeom prst="rect">
            <a:avLst/>
          </a:prstGeom>
          <a:solidFill>
            <a:srgbClr val="E6E6FA"/>
          </a:solidFill>
          <a:ln w="9144">
            <a:solidFill>
              <a:srgbClr val="0A192F"/>
            </a:solidFill>
            <a:prstDash val="solid"/>
          </a:ln>
        </p:spPr>
      </p:sp>
      <p:sp>
        <p:nvSpPr>
          <p:cNvPr id="41" name="Text 37"/>
          <p:cNvSpPr/>
          <p:nvPr/>
        </p:nvSpPr>
        <p:spPr>
          <a:xfrm>
            <a:off x="7743825" y="4243388"/>
            <a:ext cx="714375" cy="285750"/>
          </a:xfrm>
          <a:prstGeom prst="rect">
            <a:avLst/>
          </a:prstGeom>
          <a:noFill/>
          <a:ln/>
        </p:spPr>
        <p:txBody>
          <a:bodyPr wrap="none" lIns="0" tIns="0" rIns="0" bIns="0" rtlCol="0" anchor="ctr">
            <a:spAutoFit/>
          </a:bodyPr>
          <a:lstStyle/>
          <a:p>
            <a:pPr algn="ctr" indent="0" marL="0">
              <a:buNone/>
            </a:pPr>
            <a:r>
              <a:rPr lang="en-US" sz="600" b="1" dirty="0">
                <a:solidFill>
                  <a:srgbClr val="0A192F"/>
                </a:solidFill>
                <a:latin typeface="Poppins SemiBold" pitchFamily="34" charset="0"/>
                <a:ea typeface="Poppins SemiBold" pitchFamily="34" charset="-122"/>
                <a:cs typeface="Poppins SemiBold" pitchFamily="34" charset="-120"/>
              </a:rPr>
              <a:t>OFFICE STAFF</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703838"/>
          </a:xfrm>
          <a:prstGeom prst="rect">
            <a:avLst/>
          </a:prstGeom>
        </p:spPr>
      </p:pic>
      <p:sp>
        <p:nvSpPr>
          <p:cNvPr id="4" name="Shape 0"/>
          <p:cNvSpPr/>
          <p:nvPr/>
        </p:nvSpPr>
        <p:spPr>
          <a:xfrm>
            <a:off x="257175" y="257175"/>
            <a:ext cx="8629650" cy="5189488"/>
          </a:xfrm>
          <a:prstGeom prst="rect">
            <a:avLst/>
          </a:prstGeom>
          <a:solidFill>
            <a:srgbClr val="000000">
              <a:alpha val="0"/>
            </a:srgbClr>
          </a:solidFill>
          <a:ln w="9144">
            <a:solidFill>
              <a:srgbClr val="0A192F"/>
            </a:solidFill>
            <a:prstDash val="solid"/>
          </a:ln>
        </p:spPr>
      </p:sp>
      <p:sp>
        <p:nvSpPr>
          <p:cNvPr id="5" name="Shape 1"/>
          <p:cNvSpPr/>
          <p:nvPr/>
        </p:nvSpPr>
        <p:spPr>
          <a:xfrm>
            <a:off x="257175" y="257175"/>
            <a:ext cx="8629650" cy="775097"/>
          </a:xfrm>
          <a:prstGeom prst="rect">
            <a:avLst/>
          </a:prstGeom>
          <a:solidFill>
            <a:srgbClr val="0056B3">
              <a:alpha val="5000"/>
            </a:srgbClr>
          </a:solidFill>
          <a:ln/>
        </p:spPr>
      </p:sp>
      <p:sp>
        <p:nvSpPr>
          <p:cNvPr id="6" name="Shape 2"/>
          <p:cNvSpPr/>
          <p:nvPr/>
        </p:nvSpPr>
        <p:spPr>
          <a:xfrm>
            <a:off x="257175" y="1025128"/>
            <a:ext cx="8629650" cy="7144"/>
          </a:xfrm>
          <a:prstGeom prst="rect">
            <a:avLst/>
          </a:prstGeom>
          <a:solidFill>
            <a:srgbClr val="0A192F"/>
          </a:solidFill>
          <a:ln/>
        </p:spPr>
      </p:sp>
      <p:sp>
        <p:nvSpPr>
          <p:cNvPr id="7" name="Text 3"/>
          <p:cNvSpPr/>
          <p:nvPr/>
        </p:nvSpPr>
        <p:spPr>
          <a:xfrm>
            <a:off x="542925" y="471488"/>
            <a:ext cx="805815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WHAT IS DATA INDEPENDENCE?</a:t>
            </a:r>
            <a:endParaRPr lang="en-US" sz="1800" dirty="0"/>
          </a:p>
        </p:txBody>
      </p:sp>
      <p:sp>
        <p:nvSpPr>
          <p:cNvPr id="8" name="Shape 4"/>
          <p:cNvSpPr/>
          <p:nvPr/>
        </p:nvSpPr>
        <p:spPr>
          <a:xfrm>
            <a:off x="542925" y="1396603"/>
            <a:ext cx="85725" cy="85725"/>
          </a:xfrm>
          <a:prstGeom prst="rect">
            <a:avLst/>
          </a:prstGeom>
          <a:solidFill>
            <a:srgbClr val="FF6B35"/>
          </a:solidFill>
          <a:ln w="9144">
            <a:solidFill>
              <a:srgbClr val="0A192F"/>
            </a:solidFill>
            <a:prstDash val="solid"/>
          </a:ln>
        </p:spPr>
      </p:sp>
      <p:sp>
        <p:nvSpPr>
          <p:cNvPr id="9" name="Text 5"/>
          <p:cNvSpPr/>
          <p:nvPr/>
        </p:nvSpPr>
        <p:spPr>
          <a:xfrm>
            <a:off x="542925" y="1310878"/>
            <a:ext cx="3736181"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Ability to change data at one level without affecting others</a:t>
            </a:r>
            <a:endParaRPr lang="en-US" sz="1250" dirty="0"/>
          </a:p>
        </p:txBody>
      </p:sp>
      <p:sp>
        <p:nvSpPr>
          <p:cNvPr id="10" name="Shape 6"/>
          <p:cNvSpPr/>
          <p:nvPr/>
        </p:nvSpPr>
        <p:spPr>
          <a:xfrm>
            <a:off x="542925" y="2055168"/>
            <a:ext cx="85725" cy="85725"/>
          </a:xfrm>
          <a:prstGeom prst="rect">
            <a:avLst/>
          </a:prstGeom>
          <a:solidFill>
            <a:srgbClr val="FF6B35"/>
          </a:solidFill>
          <a:ln w="9144">
            <a:solidFill>
              <a:srgbClr val="0A192F"/>
            </a:solidFill>
            <a:prstDash val="solid"/>
          </a:ln>
        </p:spPr>
      </p:sp>
      <p:sp>
        <p:nvSpPr>
          <p:cNvPr id="11" name="Text 7"/>
          <p:cNvSpPr/>
          <p:nvPr/>
        </p:nvSpPr>
        <p:spPr>
          <a:xfrm>
            <a:off x="542925" y="1969443"/>
            <a:ext cx="3736181"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Makes the database easy to update and maintain</a:t>
            </a:r>
            <a:endParaRPr lang="en-US" sz="1250" dirty="0"/>
          </a:p>
        </p:txBody>
      </p:sp>
      <p:sp>
        <p:nvSpPr>
          <p:cNvPr id="12" name="Shape 8"/>
          <p:cNvSpPr/>
          <p:nvPr/>
        </p:nvSpPr>
        <p:spPr>
          <a:xfrm>
            <a:off x="542925" y="2713732"/>
            <a:ext cx="85725" cy="85725"/>
          </a:xfrm>
          <a:prstGeom prst="rect">
            <a:avLst/>
          </a:prstGeom>
          <a:solidFill>
            <a:srgbClr val="FF6B35"/>
          </a:solidFill>
          <a:ln w="9144">
            <a:solidFill>
              <a:srgbClr val="0A192F"/>
            </a:solidFill>
            <a:prstDash val="solid"/>
          </a:ln>
        </p:spPr>
      </p:sp>
      <p:sp>
        <p:nvSpPr>
          <p:cNvPr id="13" name="Text 9"/>
          <p:cNvSpPr/>
          <p:nvPr/>
        </p:nvSpPr>
        <p:spPr>
          <a:xfrm>
            <a:off x="542925" y="2628007"/>
            <a:ext cx="3736181"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Prevents rewriting programs when hardware changes</a:t>
            </a:r>
            <a:endParaRPr lang="en-US" sz="1250" dirty="0"/>
          </a:p>
        </p:txBody>
      </p:sp>
      <p:sp>
        <p:nvSpPr>
          <p:cNvPr id="14" name="Shape 10"/>
          <p:cNvSpPr/>
          <p:nvPr/>
        </p:nvSpPr>
        <p:spPr>
          <a:xfrm>
            <a:off x="542925" y="3372296"/>
            <a:ext cx="85725" cy="85725"/>
          </a:xfrm>
          <a:prstGeom prst="rect">
            <a:avLst/>
          </a:prstGeom>
          <a:solidFill>
            <a:srgbClr val="FF6B35"/>
          </a:solidFill>
          <a:ln w="9144">
            <a:solidFill>
              <a:srgbClr val="0A192F"/>
            </a:solidFill>
            <a:prstDash val="solid"/>
          </a:ln>
        </p:spPr>
      </p:sp>
      <p:sp>
        <p:nvSpPr>
          <p:cNvPr id="15" name="Text 11"/>
          <p:cNvSpPr/>
          <p:nvPr/>
        </p:nvSpPr>
        <p:spPr>
          <a:xfrm>
            <a:off x="542925" y="3286571"/>
            <a:ext cx="3736181"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Keeps the user experience consistent and smooth</a:t>
            </a:r>
            <a:endParaRPr lang="en-US" sz="1250" dirty="0"/>
          </a:p>
        </p:txBody>
      </p:sp>
      <p:sp>
        <p:nvSpPr>
          <p:cNvPr id="16" name="Shape 12"/>
          <p:cNvSpPr/>
          <p:nvPr/>
        </p:nvSpPr>
        <p:spPr>
          <a:xfrm>
            <a:off x="542925" y="4030861"/>
            <a:ext cx="85725" cy="85725"/>
          </a:xfrm>
          <a:prstGeom prst="rect">
            <a:avLst/>
          </a:prstGeom>
          <a:solidFill>
            <a:srgbClr val="FF6B35"/>
          </a:solidFill>
          <a:ln w="9144">
            <a:solidFill>
              <a:srgbClr val="0A192F"/>
            </a:solidFill>
            <a:prstDash val="solid"/>
          </a:ln>
        </p:spPr>
      </p:sp>
      <p:sp>
        <p:nvSpPr>
          <p:cNvPr id="17" name="Text 13"/>
          <p:cNvSpPr/>
          <p:nvPr/>
        </p:nvSpPr>
        <p:spPr>
          <a:xfrm>
            <a:off x="542925" y="3945136"/>
            <a:ext cx="3736181" cy="479971"/>
          </a:xfrm>
          <a:prstGeom prst="rect">
            <a:avLst/>
          </a:prstGeom>
          <a:noFill/>
          <a:ln/>
        </p:spPr>
        <p:txBody>
          <a:bodyPr wrap="square" lIns="255143" tIns="0" rIns="0" bIns="0" rtlCol="0" anchor="t">
            <a:spAutoFit/>
          </a:bodyPr>
          <a:lstStyle/>
          <a:p>
            <a:pPr algn="l" indent="0" marL="0">
              <a:lnSpc>
                <a:spcPct val="112000"/>
              </a:lnSpc>
              <a:buNone/>
            </a:pPr>
            <a:r>
              <a:rPr lang="en-US" sz="1250" dirty="0">
                <a:solidFill>
                  <a:srgbClr val="0A192F"/>
                </a:solidFill>
                <a:latin typeface="Poppins" pitchFamily="34" charset="0"/>
                <a:ea typeface="Poppins" pitchFamily="34" charset="-122"/>
                <a:cs typeface="Poppins" pitchFamily="34" charset="-120"/>
              </a:rPr>
              <a:t>Essential for professional engineering systems</a:t>
            </a:r>
            <a:endParaRPr lang="en-US" sz="1250" dirty="0"/>
          </a:p>
        </p:txBody>
      </p:sp>
      <p:pic>
        <p:nvPicPr>
          <p:cNvPr id="18" name="Image 1" descr="preencoded.png">    </p:cNvPr>
          <p:cNvPicPr>
            <a:picLocks noChangeAspect="1"/>
          </p:cNvPicPr>
          <p:nvPr/>
        </p:nvPicPr>
        <p:blipFill>
          <a:blip r:embed="rId2"/>
          <a:stretch>
            <a:fillRect/>
          </a:stretch>
        </p:blipFill>
        <p:spPr>
          <a:xfrm>
            <a:off x="542925" y="4685854"/>
            <a:ext cx="357188" cy="357188"/>
          </a:xfrm>
          <a:prstGeom prst="rect">
            <a:avLst/>
          </a:prstGeom>
        </p:spPr>
      </p:pic>
      <p:sp>
        <p:nvSpPr>
          <p:cNvPr id="19" name="Shape 14"/>
          <p:cNvSpPr/>
          <p:nvPr/>
        </p:nvSpPr>
        <p:spPr>
          <a:xfrm>
            <a:off x="4572000" y="1025128"/>
            <a:ext cx="4314825" cy="4400104"/>
          </a:xfrm>
          <a:prstGeom prst="rect">
            <a:avLst/>
          </a:prstGeom>
          <a:solidFill>
            <a:srgbClr val="FFFFFF"/>
          </a:solidFill>
          <a:ln/>
        </p:spPr>
      </p:sp>
      <p:sp>
        <p:nvSpPr>
          <p:cNvPr id="20" name="Shape 15"/>
          <p:cNvSpPr/>
          <p:nvPr/>
        </p:nvSpPr>
        <p:spPr>
          <a:xfrm>
            <a:off x="5657850" y="1953592"/>
            <a:ext cx="2143125" cy="428625"/>
          </a:xfrm>
          <a:prstGeom prst="rect">
            <a:avLst/>
          </a:prstGeom>
          <a:solidFill>
            <a:srgbClr val="E6E6FA"/>
          </a:solidFill>
          <a:ln w="9144">
            <a:solidFill>
              <a:srgbClr val="0A192F"/>
            </a:solidFill>
            <a:prstDash val="solid"/>
          </a:ln>
        </p:spPr>
      </p:sp>
      <p:sp>
        <p:nvSpPr>
          <p:cNvPr id="21" name="Text 16"/>
          <p:cNvSpPr/>
          <p:nvPr/>
        </p:nvSpPr>
        <p:spPr>
          <a:xfrm>
            <a:off x="5657850" y="1953592"/>
            <a:ext cx="2143125" cy="428625"/>
          </a:xfrm>
          <a:prstGeom prst="rect">
            <a:avLst/>
          </a:prstGeom>
          <a:noFill/>
          <a:ln/>
        </p:spPr>
        <p:txBody>
          <a:bodyPr wrap="square" lIns="0" tIns="0" rIns="0" bIns="0" rtlCol="0" anchor="ctr">
            <a:spAutoFit/>
          </a:bodyPr>
          <a:lstStyle/>
          <a:p>
            <a:pPr algn="ctr" indent="0" marL="0">
              <a:buNone/>
            </a:pPr>
            <a:r>
              <a:rPr lang="en-US" sz="900" b="1" dirty="0">
                <a:solidFill>
                  <a:srgbClr val="0A192F"/>
                </a:solidFill>
                <a:latin typeface="Poppins SemiBold" pitchFamily="34" charset="0"/>
                <a:ea typeface="Poppins SemiBold" pitchFamily="34" charset="-122"/>
                <a:cs typeface="Poppins SemiBold" pitchFamily="34" charset="-120"/>
              </a:rPr>
              <a:t>External Level (User View)</a:t>
            </a:r>
            <a:endParaRPr lang="en-US" sz="900" dirty="0"/>
          </a:p>
        </p:txBody>
      </p:sp>
      <p:pic>
        <p:nvPicPr>
          <p:cNvPr id="22" name="Image 2" descr="preencoded.png">    </p:cNvPr>
          <p:cNvPicPr>
            <a:picLocks noChangeAspect="1"/>
          </p:cNvPicPr>
          <p:nvPr/>
        </p:nvPicPr>
        <p:blipFill>
          <a:blip r:embed="rId3"/>
          <a:stretch>
            <a:fillRect/>
          </a:stretch>
        </p:blipFill>
        <p:spPr>
          <a:xfrm>
            <a:off x="6686550" y="2603674"/>
            <a:ext cx="85725" cy="171450"/>
          </a:xfrm>
          <a:prstGeom prst="rect">
            <a:avLst/>
          </a:prstGeom>
        </p:spPr>
      </p:pic>
      <p:sp>
        <p:nvSpPr>
          <p:cNvPr id="23" name="Shape 17"/>
          <p:cNvSpPr/>
          <p:nvPr/>
        </p:nvSpPr>
        <p:spPr>
          <a:xfrm>
            <a:off x="5657850" y="3010867"/>
            <a:ext cx="2143125" cy="428625"/>
          </a:xfrm>
          <a:prstGeom prst="rect">
            <a:avLst/>
          </a:prstGeom>
          <a:solidFill>
            <a:srgbClr val="FFDAB9"/>
          </a:solidFill>
          <a:ln w="9144">
            <a:solidFill>
              <a:srgbClr val="0A192F"/>
            </a:solidFill>
            <a:prstDash val="solid"/>
          </a:ln>
        </p:spPr>
      </p:sp>
      <p:sp>
        <p:nvSpPr>
          <p:cNvPr id="24" name="Text 18"/>
          <p:cNvSpPr/>
          <p:nvPr/>
        </p:nvSpPr>
        <p:spPr>
          <a:xfrm>
            <a:off x="5657850" y="3010867"/>
            <a:ext cx="2143125" cy="428625"/>
          </a:xfrm>
          <a:prstGeom prst="rect">
            <a:avLst/>
          </a:prstGeom>
          <a:noFill/>
          <a:ln/>
        </p:spPr>
        <p:txBody>
          <a:bodyPr wrap="square" lIns="0" tIns="0" rIns="0" bIns="0" rtlCol="0" anchor="ctr">
            <a:spAutoFit/>
          </a:bodyPr>
          <a:lstStyle/>
          <a:p>
            <a:pPr algn="ctr" indent="0" marL="0">
              <a:buNone/>
            </a:pPr>
            <a:r>
              <a:rPr lang="en-US" sz="900" b="1" dirty="0">
                <a:solidFill>
                  <a:srgbClr val="0A192F"/>
                </a:solidFill>
                <a:latin typeface="Poppins SemiBold" pitchFamily="34" charset="0"/>
                <a:ea typeface="Poppins SemiBold" pitchFamily="34" charset="-122"/>
                <a:cs typeface="Poppins SemiBold" pitchFamily="34" charset="-120"/>
              </a:rPr>
              <a:t>Conceptual Level (Logic)</a:t>
            </a:r>
            <a:endParaRPr lang="en-US" sz="900" dirty="0"/>
          </a:p>
        </p:txBody>
      </p:sp>
      <p:pic>
        <p:nvPicPr>
          <p:cNvPr id="25" name="Image 3" descr="preencoded.png">    </p:cNvPr>
          <p:cNvPicPr>
            <a:picLocks noChangeAspect="1"/>
          </p:cNvPicPr>
          <p:nvPr/>
        </p:nvPicPr>
        <p:blipFill>
          <a:blip r:embed="rId4"/>
          <a:stretch>
            <a:fillRect/>
          </a:stretch>
        </p:blipFill>
        <p:spPr>
          <a:xfrm>
            <a:off x="6686550" y="3660949"/>
            <a:ext cx="85725" cy="171450"/>
          </a:xfrm>
          <a:prstGeom prst="rect">
            <a:avLst/>
          </a:prstGeom>
        </p:spPr>
      </p:pic>
      <p:sp>
        <p:nvSpPr>
          <p:cNvPr id="26" name="Shape 19"/>
          <p:cNvSpPr/>
          <p:nvPr/>
        </p:nvSpPr>
        <p:spPr>
          <a:xfrm>
            <a:off x="5657850" y="4068142"/>
            <a:ext cx="2143125" cy="428625"/>
          </a:xfrm>
          <a:prstGeom prst="rect">
            <a:avLst/>
          </a:prstGeom>
          <a:solidFill>
            <a:srgbClr val="ADD8E6"/>
          </a:solidFill>
          <a:ln w="9144">
            <a:solidFill>
              <a:srgbClr val="0A192F"/>
            </a:solidFill>
            <a:prstDash val="solid"/>
          </a:ln>
        </p:spPr>
      </p:sp>
      <p:sp>
        <p:nvSpPr>
          <p:cNvPr id="27" name="Text 20"/>
          <p:cNvSpPr/>
          <p:nvPr/>
        </p:nvSpPr>
        <p:spPr>
          <a:xfrm>
            <a:off x="5657850" y="4068142"/>
            <a:ext cx="2143125" cy="428625"/>
          </a:xfrm>
          <a:prstGeom prst="rect">
            <a:avLst/>
          </a:prstGeom>
          <a:noFill/>
          <a:ln/>
        </p:spPr>
        <p:txBody>
          <a:bodyPr wrap="square" lIns="0" tIns="0" rIns="0" bIns="0" rtlCol="0" anchor="ctr">
            <a:spAutoFit/>
          </a:bodyPr>
          <a:lstStyle/>
          <a:p>
            <a:pPr algn="ctr" indent="0" marL="0">
              <a:buNone/>
            </a:pPr>
            <a:r>
              <a:rPr lang="en-US" sz="900" b="1" dirty="0">
                <a:solidFill>
                  <a:srgbClr val="0A192F"/>
                </a:solidFill>
                <a:latin typeface="Poppins SemiBold" pitchFamily="34" charset="0"/>
                <a:ea typeface="Poppins SemiBold" pitchFamily="34" charset="-122"/>
                <a:cs typeface="Poppins SemiBold" pitchFamily="34" charset="-120"/>
              </a:rPr>
              <a:t>Internal Level (Physical)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4572000"/>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PHYSICAL VS LOGICAL INDEPENDENCE</a:t>
            </a:r>
            <a:endParaRPr lang="en-US" sz="1800" dirty="0"/>
          </a:p>
        </p:txBody>
      </p:sp>
      <p:sp>
        <p:nvSpPr>
          <p:cNvPr id="8" name="Shape 4"/>
          <p:cNvSpPr/>
          <p:nvPr/>
        </p:nvSpPr>
        <p:spPr>
          <a:xfrm>
            <a:off x="285750" y="1053703"/>
            <a:ext cx="1200708" cy="342900"/>
          </a:xfrm>
          <a:prstGeom prst="rect">
            <a:avLst/>
          </a:prstGeom>
          <a:solidFill>
            <a:srgbClr val="FF6B35">
              <a:alpha val="10000"/>
            </a:srgbClr>
          </a:solidFill>
          <a:ln/>
        </p:spPr>
      </p:sp>
      <p:sp>
        <p:nvSpPr>
          <p:cNvPr id="9" name="Shape 5"/>
          <p:cNvSpPr/>
          <p:nvPr/>
        </p:nvSpPr>
        <p:spPr>
          <a:xfrm>
            <a:off x="1479314" y="1053703"/>
            <a:ext cx="7144" cy="342900"/>
          </a:xfrm>
          <a:prstGeom prst="rect">
            <a:avLst/>
          </a:prstGeom>
          <a:solidFill>
            <a:srgbClr val="0A192F"/>
          </a:solidFill>
          <a:ln/>
        </p:spPr>
      </p:sp>
      <p:sp>
        <p:nvSpPr>
          <p:cNvPr id="10" name="Text 6"/>
          <p:cNvSpPr/>
          <p:nvPr/>
        </p:nvSpPr>
        <p:spPr>
          <a:xfrm>
            <a:off x="285750" y="1053703"/>
            <a:ext cx="1200708" cy="342900"/>
          </a:xfrm>
          <a:prstGeom prst="rect">
            <a:avLst/>
          </a:prstGeom>
          <a:noFill/>
          <a:ln/>
        </p:spPr>
        <p:txBody>
          <a:bodyPr wrap="none" lIns="204089" tIns="102108" rIns="204089" bIns="1021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FEATURE</a:t>
            </a:r>
            <a:endParaRPr lang="en-US" sz="900" dirty="0"/>
          </a:p>
        </p:txBody>
      </p:sp>
      <p:sp>
        <p:nvSpPr>
          <p:cNvPr id="11" name="Shape 7"/>
          <p:cNvSpPr/>
          <p:nvPr/>
        </p:nvSpPr>
        <p:spPr>
          <a:xfrm>
            <a:off x="1482328" y="1053703"/>
            <a:ext cx="3647219" cy="342900"/>
          </a:xfrm>
          <a:prstGeom prst="rect">
            <a:avLst/>
          </a:prstGeom>
          <a:solidFill>
            <a:srgbClr val="FF6B35">
              <a:alpha val="10000"/>
            </a:srgbClr>
          </a:solidFill>
          <a:ln/>
        </p:spPr>
      </p:sp>
      <p:sp>
        <p:nvSpPr>
          <p:cNvPr id="12" name="Shape 8"/>
          <p:cNvSpPr/>
          <p:nvPr/>
        </p:nvSpPr>
        <p:spPr>
          <a:xfrm>
            <a:off x="5122404" y="1053703"/>
            <a:ext cx="7144" cy="342900"/>
          </a:xfrm>
          <a:prstGeom prst="rect">
            <a:avLst/>
          </a:prstGeom>
          <a:solidFill>
            <a:srgbClr val="0A192F"/>
          </a:solidFill>
          <a:ln/>
        </p:spPr>
      </p:sp>
      <p:sp>
        <p:nvSpPr>
          <p:cNvPr id="13" name="Text 9"/>
          <p:cNvSpPr/>
          <p:nvPr/>
        </p:nvSpPr>
        <p:spPr>
          <a:xfrm>
            <a:off x="1482328" y="1053703"/>
            <a:ext cx="3647219" cy="342900"/>
          </a:xfrm>
          <a:prstGeom prst="rect">
            <a:avLst/>
          </a:prstGeom>
          <a:noFill/>
          <a:ln/>
        </p:spPr>
        <p:txBody>
          <a:bodyPr wrap="square" lIns="204089" tIns="102108" rIns="204089" bIns="1021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PHYSICAL INDEPENDENCE</a:t>
            </a:r>
            <a:endParaRPr lang="en-US" sz="900" dirty="0"/>
          </a:p>
        </p:txBody>
      </p:sp>
      <p:sp>
        <p:nvSpPr>
          <p:cNvPr id="14" name="Shape 10"/>
          <p:cNvSpPr/>
          <p:nvPr/>
        </p:nvSpPr>
        <p:spPr>
          <a:xfrm>
            <a:off x="5129547" y="1053703"/>
            <a:ext cx="3728703" cy="342900"/>
          </a:xfrm>
          <a:prstGeom prst="rect">
            <a:avLst/>
          </a:prstGeom>
          <a:solidFill>
            <a:srgbClr val="FF6B35">
              <a:alpha val="10000"/>
            </a:srgbClr>
          </a:solidFill>
          <a:ln/>
        </p:spPr>
      </p:sp>
      <p:sp>
        <p:nvSpPr>
          <p:cNvPr id="15" name="Text 11"/>
          <p:cNvSpPr/>
          <p:nvPr/>
        </p:nvSpPr>
        <p:spPr>
          <a:xfrm>
            <a:off x="5129547" y="1053703"/>
            <a:ext cx="3728703" cy="342900"/>
          </a:xfrm>
          <a:prstGeom prst="rect">
            <a:avLst/>
          </a:prstGeom>
          <a:noFill/>
          <a:ln/>
        </p:spPr>
        <p:txBody>
          <a:bodyPr wrap="square" lIns="204089" tIns="102108" rIns="204089" bIns="1021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LOGICAL INDEPENDENCE</a:t>
            </a:r>
            <a:endParaRPr lang="en-US" sz="900" dirty="0"/>
          </a:p>
        </p:txBody>
      </p:sp>
      <p:sp>
        <p:nvSpPr>
          <p:cNvPr id="16" name="Text 12"/>
          <p:cNvSpPr/>
          <p:nvPr/>
        </p:nvSpPr>
        <p:spPr>
          <a:xfrm>
            <a:off x="457200" y="1489472"/>
            <a:ext cx="375047"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Focus</a:t>
            </a:r>
            <a:endParaRPr lang="en-US" sz="900" dirty="0"/>
          </a:p>
        </p:txBody>
      </p:sp>
      <p:sp>
        <p:nvSpPr>
          <p:cNvPr id="17" name="Text 13"/>
          <p:cNvSpPr/>
          <p:nvPr/>
        </p:nvSpPr>
        <p:spPr>
          <a:xfrm>
            <a:off x="1482328" y="1396603"/>
            <a:ext cx="3647219" cy="367903"/>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Hardware and Storage (Disks)</a:t>
            </a:r>
            <a:endParaRPr lang="en-US" sz="950" dirty="0"/>
          </a:p>
        </p:txBody>
      </p:sp>
      <p:sp>
        <p:nvSpPr>
          <p:cNvPr id="18" name="Text 14"/>
          <p:cNvSpPr/>
          <p:nvPr/>
        </p:nvSpPr>
        <p:spPr>
          <a:xfrm>
            <a:off x="5129547" y="1396603"/>
            <a:ext cx="3728703" cy="367903"/>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Table Structure and Logic</a:t>
            </a:r>
            <a:endParaRPr lang="en-US" sz="950" dirty="0"/>
          </a:p>
        </p:txBody>
      </p:sp>
      <p:sp>
        <p:nvSpPr>
          <p:cNvPr id="19" name="Text 15"/>
          <p:cNvSpPr/>
          <p:nvPr/>
        </p:nvSpPr>
        <p:spPr>
          <a:xfrm>
            <a:off x="457200" y="1857375"/>
            <a:ext cx="328613"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Level</a:t>
            </a:r>
            <a:endParaRPr lang="en-US" sz="900" dirty="0"/>
          </a:p>
        </p:txBody>
      </p:sp>
      <p:sp>
        <p:nvSpPr>
          <p:cNvPr id="20" name="Text 16"/>
          <p:cNvSpPr/>
          <p:nvPr/>
        </p:nvSpPr>
        <p:spPr>
          <a:xfrm>
            <a:off x="1482328" y="1764506"/>
            <a:ext cx="3647219" cy="367903"/>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Internal Level</a:t>
            </a:r>
            <a:endParaRPr lang="en-US" sz="950" dirty="0"/>
          </a:p>
        </p:txBody>
      </p:sp>
      <p:sp>
        <p:nvSpPr>
          <p:cNvPr id="21" name="Text 17"/>
          <p:cNvSpPr/>
          <p:nvPr/>
        </p:nvSpPr>
        <p:spPr>
          <a:xfrm>
            <a:off x="5129547" y="1764506"/>
            <a:ext cx="3728703" cy="367903"/>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Conceptual Level</a:t>
            </a:r>
            <a:endParaRPr lang="en-US" sz="950" dirty="0"/>
          </a:p>
        </p:txBody>
      </p:sp>
      <p:sp>
        <p:nvSpPr>
          <p:cNvPr id="22" name="Text 18"/>
          <p:cNvSpPr/>
          <p:nvPr/>
        </p:nvSpPr>
        <p:spPr>
          <a:xfrm>
            <a:off x="457200" y="2225278"/>
            <a:ext cx="453628"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Benefit</a:t>
            </a:r>
            <a:endParaRPr lang="en-US" sz="900" dirty="0"/>
          </a:p>
        </p:txBody>
      </p:sp>
      <p:sp>
        <p:nvSpPr>
          <p:cNvPr id="23" name="Text 19"/>
          <p:cNvSpPr/>
          <p:nvPr/>
        </p:nvSpPr>
        <p:spPr>
          <a:xfrm>
            <a:off x="1482328" y="2132409"/>
            <a:ext cx="3647219" cy="371475"/>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Change disks without breaking logic</a:t>
            </a:r>
            <a:endParaRPr lang="en-US" sz="950" dirty="0"/>
          </a:p>
        </p:txBody>
      </p:sp>
      <p:sp>
        <p:nvSpPr>
          <p:cNvPr id="24" name="Text 20"/>
          <p:cNvSpPr/>
          <p:nvPr/>
        </p:nvSpPr>
        <p:spPr>
          <a:xfrm>
            <a:off x="5129547" y="2132409"/>
            <a:ext cx="3728703" cy="371475"/>
          </a:xfrm>
          <a:prstGeom prst="rect">
            <a:avLst/>
          </a:prstGeom>
          <a:noFill/>
          <a:ln/>
        </p:spPr>
        <p:txBody>
          <a:bodyPr wrap="square" lIns="204089" tIns="102108" rIns="204089" bIns="1021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Change tables without breaking view</a:t>
            </a:r>
            <a:endParaRPr lang="en-US" sz="950" dirty="0"/>
          </a:p>
        </p:txBody>
      </p:sp>
      <p:sp>
        <p:nvSpPr>
          <p:cNvPr id="25" name="Shape 21"/>
          <p:cNvSpPr/>
          <p:nvPr/>
        </p:nvSpPr>
        <p:spPr>
          <a:xfrm>
            <a:off x="285750" y="2507456"/>
            <a:ext cx="8572500" cy="2350294"/>
          </a:xfrm>
          <a:prstGeom prst="rect">
            <a:avLst/>
          </a:prstGeom>
          <a:solidFill>
            <a:srgbClr val="FFFFFF"/>
          </a:solidFill>
          <a:ln/>
        </p:spPr>
      </p:sp>
      <p:sp>
        <p:nvSpPr>
          <p:cNvPr id="26" name="Shape 22"/>
          <p:cNvSpPr/>
          <p:nvPr/>
        </p:nvSpPr>
        <p:spPr>
          <a:xfrm>
            <a:off x="3143250" y="2896791"/>
            <a:ext cx="2857500" cy="342900"/>
          </a:xfrm>
          <a:prstGeom prst="rect">
            <a:avLst/>
          </a:prstGeom>
          <a:solidFill>
            <a:srgbClr val="ADD8E6"/>
          </a:solidFill>
          <a:ln w="9144">
            <a:solidFill>
              <a:srgbClr val="0A192F"/>
            </a:solidFill>
            <a:prstDash val="solid"/>
          </a:ln>
        </p:spPr>
      </p:sp>
      <p:sp>
        <p:nvSpPr>
          <p:cNvPr id="27" name="Text 23"/>
          <p:cNvSpPr/>
          <p:nvPr/>
        </p:nvSpPr>
        <p:spPr>
          <a:xfrm>
            <a:off x="3143250" y="2896791"/>
            <a:ext cx="2857500" cy="342900"/>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EXTERNAL LEVEL (User View)</a:t>
            </a:r>
            <a:endParaRPr lang="en-US" sz="800" dirty="0"/>
          </a:p>
        </p:txBody>
      </p:sp>
      <p:sp>
        <p:nvSpPr>
          <p:cNvPr id="28" name="Shape 24"/>
          <p:cNvSpPr/>
          <p:nvPr/>
        </p:nvSpPr>
        <p:spPr>
          <a:xfrm>
            <a:off x="4564856" y="3325416"/>
            <a:ext cx="14288" cy="100013"/>
          </a:xfrm>
          <a:prstGeom prst="rect">
            <a:avLst/>
          </a:prstGeom>
          <a:solidFill>
            <a:srgbClr val="0A192F"/>
          </a:solidFill>
          <a:ln/>
        </p:spPr>
      </p:sp>
      <p:sp>
        <p:nvSpPr>
          <p:cNvPr id="29" name="Text 25"/>
          <p:cNvSpPr/>
          <p:nvPr/>
        </p:nvSpPr>
        <p:spPr>
          <a:xfrm>
            <a:off x="4650581" y="3325416"/>
            <a:ext cx="1214438" cy="132159"/>
          </a:xfrm>
          <a:prstGeom prst="rect">
            <a:avLst/>
          </a:prstGeom>
          <a:noFill/>
          <a:ln/>
        </p:spPr>
        <p:txBody>
          <a:bodyPr wrap="none" lIns="0" tIns="0" rIns="0" bIns="0" rtlCol="0" anchor="t">
            <a:spAutoFit/>
          </a:bodyPr>
          <a:lstStyle/>
          <a:p>
            <a:pPr algn="l" indent="0" marL="0">
              <a:buNone/>
            </a:pPr>
            <a:r>
              <a:rPr lang="en-US" sz="700" b="1" dirty="0">
                <a:solidFill>
                  <a:srgbClr val="FF6B35"/>
                </a:solidFill>
                <a:latin typeface="Roboto Mono Bold" pitchFamily="34" charset="0"/>
                <a:ea typeface="Roboto Mono Bold" pitchFamily="34" charset="-122"/>
                <a:cs typeface="Roboto Mono Bold" pitchFamily="34" charset="-120"/>
              </a:rPr>
              <a:t>LOGICAL INDEPENDENCE</a:t>
            </a:r>
            <a:endParaRPr lang="en-US" sz="700" dirty="0"/>
          </a:p>
        </p:txBody>
      </p:sp>
      <p:sp>
        <p:nvSpPr>
          <p:cNvPr id="30" name="Shape 26"/>
          <p:cNvSpPr/>
          <p:nvPr/>
        </p:nvSpPr>
        <p:spPr>
          <a:xfrm>
            <a:off x="3143250" y="3511153"/>
            <a:ext cx="2857500" cy="342900"/>
          </a:xfrm>
          <a:prstGeom prst="rect">
            <a:avLst/>
          </a:prstGeom>
          <a:solidFill>
            <a:srgbClr val="FFDAB9"/>
          </a:solidFill>
          <a:ln w="9144">
            <a:solidFill>
              <a:srgbClr val="0A192F"/>
            </a:solidFill>
            <a:prstDash val="solid"/>
          </a:ln>
        </p:spPr>
      </p:sp>
      <p:sp>
        <p:nvSpPr>
          <p:cNvPr id="31" name="Text 27"/>
          <p:cNvSpPr/>
          <p:nvPr/>
        </p:nvSpPr>
        <p:spPr>
          <a:xfrm>
            <a:off x="3143250" y="3511153"/>
            <a:ext cx="2857500" cy="342900"/>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CONCEPTUAL LEVEL (Table Logic)</a:t>
            </a:r>
            <a:endParaRPr lang="en-US" sz="800" dirty="0"/>
          </a:p>
        </p:txBody>
      </p:sp>
      <p:sp>
        <p:nvSpPr>
          <p:cNvPr id="32" name="Shape 28"/>
          <p:cNvSpPr/>
          <p:nvPr/>
        </p:nvSpPr>
        <p:spPr>
          <a:xfrm>
            <a:off x="4564856" y="3939778"/>
            <a:ext cx="14288" cy="100013"/>
          </a:xfrm>
          <a:prstGeom prst="rect">
            <a:avLst/>
          </a:prstGeom>
          <a:solidFill>
            <a:srgbClr val="0A192F"/>
          </a:solidFill>
          <a:ln/>
        </p:spPr>
      </p:sp>
      <p:sp>
        <p:nvSpPr>
          <p:cNvPr id="33" name="Text 29"/>
          <p:cNvSpPr/>
          <p:nvPr/>
        </p:nvSpPr>
        <p:spPr>
          <a:xfrm>
            <a:off x="4589859" y="3939778"/>
            <a:ext cx="1275159" cy="132159"/>
          </a:xfrm>
          <a:prstGeom prst="rect">
            <a:avLst/>
          </a:prstGeom>
          <a:noFill/>
          <a:ln/>
        </p:spPr>
        <p:txBody>
          <a:bodyPr wrap="none" lIns="0" tIns="0" rIns="0" bIns="0" rtlCol="0" anchor="t">
            <a:spAutoFit/>
          </a:bodyPr>
          <a:lstStyle/>
          <a:p>
            <a:pPr algn="l" indent="0" marL="0">
              <a:buNone/>
            </a:pPr>
            <a:r>
              <a:rPr lang="en-US" sz="700" b="1" dirty="0">
                <a:solidFill>
                  <a:srgbClr val="FF6B35"/>
                </a:solidFill>
                <a:latin typeface="Roboto Mono Bold" pitchFamily="34" charset="0"/>
                <a:ea typeface="Roboto Mono Bold" pitchFamily="34" charset="-122"/>
                <a:cs typeface="Roboto Mono Bold" pitchFamily="34" charset="-120"/>
              </a:rPr>
              <a:t>PHYSICAL INDEPENDENCE</a:t>
            </a:r>
            <a:endParaRPr lang="en-US" sz="700" dirty="0"/>
          </a:p>
        </p:txBody>
      </p:sp>
      <p:sp>
        <p:nvSpPr>
          <p:cNvPr id="34" name="Shape 30"/>
          <p:cNvSpPr/>
          <p:nvPr/>
        </p:nvSpPr>
        <p:spPr>
          <a:xfrm>
            <a:off x="3143250" y="4125516"/>
            <a:ext cx="2857500" cy="342900"/>
          </a:xfrm>
          <a:prstGeom prst="rect">
            <a:avLst/>
          </a:prstGeom>
          <a:solidFill>
            <a:srgbClr val="E6E6FA"/>
          </a:solidFill>
          <a:ln w="9144">
            <a:solidFill>
              <a:srgbClr val="0A192F"/>
            </a:solidFill>
            <a:prstDash val="solid"/>
          </a:ln>
        </p:spPr>
      </p:sp>
      <p:sp>
        <p:nvSpPr>
          <p:cNvPr id="35" name="Text 31"/>
          <p:cNvSpPr/>
          <p:nvPr/>
        </p:nvSpPr>
        <p:spPr>
          <a:xfrm>
            <a:off x="3143250" y="4125516"/>
            <a:ext cx="2857500" cy="342900"/>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INTERNAL LEVEL (Physical Storage)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4572000"/>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DBMS SOFTWARE COMPONENTS</a:t>
            </a:r>
            <a:endParaRPr lang="en-US" sz="1800" dirty="0"/>
          </a:p>
        </p:txBody>
      </p:sp>
      <p:sp>
        <p:nvSpPr>
          <p:cNvPr id="8" name="Text 4"/>
          <p:cNvSpPr/>
          <p:nvPr/>
        </p:nvSpPr>
        <p:spPr>
          <a:xfrm>
            <a:off x="571500" y="1339453"/>
            <a:ext cx="8001000" cy="257175"/>
          </a:xfrm>
          <a:prstGeom prst="rect">
            <a:avLst/>
          </a:prstGeom>
          <a:noFill/>
          <a:ln/>
        </p:spPr>
        <p:txBody>
          <a:bodyPr wrap="square" lIns="170053" tIns="0" rIns="0" bIns="0" rtlCol="0" anchor="t">
            <a:spAutoFit/>
          </a:bodyPr>
          <a:lstStyle/>
          <a:p>
            <a:pPr algn="l" indent="0" marL="0">
              <a:buNone/>
            </a:pPr>
            <a:r>
              <a:rPr lang="en-US" sz="1250" dirty="0">
                <a:solidFill>
                  <a:srgbClr val="0A192F"/>
                </a:solidFill>
                <a:latin typeface="Poppins" pitchFamily="34" charset="0"/>
                <a:ea typeface="Poppins" pitchFamily="34" charset="-122"/>
                <a:cs typeface="Poppins" pitchFamily="34" charset="-120"/>
              </a:rPr>
              <a:t>A DBMS is made of several working parts that manage your data.</a:t>
            </a:r>
            <a:endParaRPr lang="en-US" sz="1250" dirty="0"/>
          </a:p>
        </p:txBody>
      </p:sp>
      <p:sp>
        <p:nvSpPr>
          <p:cNvPr id="9" name="Shape 5"/>
          <p:cNvSpPr/>
          <p:nvPr/>
        </p:nvSpPr>
        <p:spPr>
          <a:xfrm>
            <a:off x="571500" y="1882378"/>
            <a:ext cx="2524088" cy="2689622"/>
          </a:xfrm>
          <a:prstGeom prst="rect">
            <a:avLst/>
          </a:prstGeom>
          <a:solidFill>
            <a:srgbClr val="FFFFFF"/>
          </a:solidFill>
          <a:ln w="9144">
            <a:solidFill>
              <a:srgbClr val="0A192F"/>
            </a:solidFill>
            <a:prstDash val="solid"/>
          </a:ln>
        </p:spPr>
      </p:sp>
      <p:sp>
        <p:nvSpPr>
          <p:cNvPr id="10" name="Shape 6"/>
          <p:cNvSpPr/>
          <p:nvPr/>
        </p:nvSpPr>
        <p:spPr>
          <a:xfrm>
            <a:off x="1547794" y="2096691"/>
            <a:ext cx="571500" cy="571500"/>
          </a:xfrm>
          <a:prstGeom prst="rect">
            <a:avLst/>
          </a:prstGeom>
          <a:solidFill>
            <a:srgbClr val="ADD8E6"/>
          </a:solidFill>
          <a:ln w="9144">
            <a:solidFill>
              <a:srgbClr val="0A192F"/>
            </a:solidFill>
            <a:prstDash val="solid"/>
          </a:ln>
        </p:spPr>
      </p:sp>
      <p:pic>
        <p:nvPicPr>
          <p:cNvPr id="11" name="Image 1" descr="preencoded.png">    </p:cNvPr>
          <p:cNvPicPr>
            <a:picLocks noChangeAspect="1"/>
          </p:cNvPicPr>
          <p:nvPr/>
        </p:nvPicPr>
        <p:blipFill>
          <a:blip r:embed="rId2"/>
          <a:stretch>
            <a:fillRect/>
          </a:stretch>
        </p:blipFill>
        <p:spPr>
          <a:xfrm>
            <a:off x="1672810" y="2239566"/>
            <a:ext cx="321469" cy="285750"/>
          </a:xfrm>
          <a:prstGeom prst="rect">
            <a:avLst/>
          </a:prstGeom>
        </p:spPr>
      </p:pic>
      <p:sp>
        <p:nvSpPr>
          <p:cNvPr id="12" name="Text 7"/>
          <p:cNvSpPr/>
          <p:nvPr/>
        </p:nvSpPr>
        <p:spPr>
          <a:xfrm>
            <a:off x="1119169" y="2811066"/>
            <a:ext cx="1428750" cy="189309"/>
          </a:xfrm>
          <a:prstGeom prst="rect">
            <a:avLst/>
          </a:prstGeom>
          <a:noFill/>
          <a:ln/>
        </p:spPr>
        <p:txBody>
          <a:bodyPr wrap="square" lIns="85090" tIns="0" rIns="85090" bIns="0" rtlCol="0" anchor="t">
            <a:spAutoFit/>
          </a:bodyPr>
          <a:lstStyle/>
          <a:p>
            <a:pPr algn="ctr" indent="0" marL="0">
              <a:buNone/>
            </a:pPr>
            <a:r>
              <a:rPr lang="en-US" sz="1000" b="1" dirty="0">
                <a:solidFill>
                  <a:srgbClr val="0056B3"/>
                </a:solidFill>
                <a:latin typeface="Roboto Mono Bold" pitchFamily="34" charset="0"/>
                <a:ea typeface="Roboto Mono Bold" pitchFamily="34" charset="-122"/>
                <a:cs typeface="Roboto Mono Bold" pitchFamily="34" charset="-120"/>
              </a:rPr>
              <a:t>Query Processor</a:t>
            </a:r>
            <a:endParaRPr lang="en-US" sz="1000" dirty="0"/>
          </a:p>
        </p:txBody>
      </p:sp>
      <p:sp>
        <p:nvSpPr>
          <p:cNvPr id="13" name="Text 8"/>
          <p:cNvSpPr/>
          <p:nvPr/>
        </p:nvSpPr>
        <p:spPr>
          <a:xfrm>
            <a:off x="714375" y="3143250"/>
            <a:ext cx="2238338"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Handles user requests</a:t>
            </a:r>
            <a:endParaRPr lang="en-US" sz="850" dirty="0"/>
          </a:p>
        </p:txBody>
      </p:sp>
      <p:sp>
        <p:nvSpPr>
          <p:cNvPr id="14" name="Text 9"/>
          <p:cNvSpPr/>
          <p:nvPr/>
        </p:nvSpPr>
        <p:spPr>
          <a:xfrm>
            <a:off x="714375" y="3400425"/>
            <a:ext cx="2238338"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Translates SQL code</a:t>
            </a:r>
            <a:endParaRPr lang="en-US" sz="850" dirty="0"/>
          </a:p>
        </p:txBody>
      </p:sp>
      <p:sp>
        <p:nvSpPr>
          <p:cNvPr id="15" name="Text 10"/>
          <p:cNvSpPr/>
          <p:nvPr/>
        </p:nvSpPr>
        <p:spPr>
          <a:xfrm>
            <a:off x="714375" y="3657600"/>
            <a:ext cx="2238338"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Finds the fastest way to get data</a:t>
            </a:r>
            <a:endParaRPr lang="en-US" sz="850" dirty="0"/>
          </a:p>
        </p:txBody>
      </p:sp>
      <p:sp>
        <p:nvSpPr>
          <p:cNvPr id="16" name="Shape 11"/>
          <p:cNvSpPr/>
          <p:nvPr/>
        </p:nvSpPr>
        <p:spPr>
          <a:xfrm>
            <a:off x="3309900" y="1882378"/>
            <a:ext cx="2524144" cy="2689622"/>
          </a:xfrm>
          <a:prstGeom prst="rect">
            <a:avLst/>
          </a:prstGeom>
          <a:solidFill>
            <a:srgbClr val="FFFFFF"/>
          </a:solidFill>
          <a:ln w="9144">
            <a:solidFill>
              <a:srgbClr val="0A192F"/>
            </a:solidFill>
            <a:prstDash val="solid"/>
          </a:ln>
        </p:spPr>
      </p:sp>
      <p:sp>
        <p:nvSpPr>
          <p:cNvPr id="17" name="Shape 12"/>
          <p:cNvSpPr/>
          <p:nvPr/>
        </p:nvSpPr>
        <p:spPr>
          <a:xfrm>
            <a:off x="4286194" y="2096691"/>
            <a:ext cx="571500" cy="571500"/>
          </a:xfrm>
          <a:prstGeom prst="rect">
            <a:avLst/>
          </a:prstGeom>
          <a:solidFill>
            <a:srgbClr val="ADD8E6"/>
          </a:solidFill>
          <a:ln w="9144">
            <a:solidFill>
              <a:srgbClr val="0A192F"/>
            </a:solidFill>
            <a:prstDash val="solid"/>
          </a:ln>
        </p:spPr>
      </p:sp>
      <p:pic>
        <p:nvPicPr>
          <p:cNvPr id="18" name="Image 2" descr="preencoded.png">    </p:cNvPr>
          <p:cNvPicPr>
            <a:picLocks noChangeAspect="1"/>
          </p:cNvPicPr>
          <p:nvPr/>
        </p:nvPicPr>
        <p:blipFill>
          <a:blip r:embed="rId3"/>
          <a:stretch>
            <a:fillRect/>
          </a:stretch>
        </p:blipFill>
        <p:spPr>
          <a:xfrm>
            <a:off x="4429069" y="2239566"/>
            <a:ext cx="285750" cy="285750"/>
          </a:xfrm>
          <a:prstGeom prst="rect">
            <a:avLst/>
          </a:prstGeom>
        </p:spPr>
      </p:pic>
      <p:sp>
        <p:nvSpPr>
          <p:cNvPr id="19" name="Text 13"/>
          <p:cNvSpPr/>
          <p:nvPr/>
        </p:nvSpPr>
        <p:spPr>
          <a:xfrm>
            <a:off x="3857569" y="2811066"/>
            <a:ext cx="1428750" cy="189309"/>
          </a:xfrm>
          <a:prstGeom prst="rect">
            <a:avLst/>
          </a:prstGeom>
          <a:noFill/>
          <a:ln/>
        </p:spPr>
        <p:txBody>
          <a:bodyPr wrap="square" lIns="85090" tIns="0" rIns="85090" bIns="0" rtlCol="0" anchor="t">
            <a:spAutoFit/>
          </a:bodyPr>
          <a:lstStyle/>
          <a:p>
            <a:pPr algn="ctr" indent="0" marL="0">
              <a:buNone/>
            </a:pPr>
            <a:r>
              <a:rPr lang="en-US" sz="1000" b="1" dirty="0">
                <a:solidFill>
                  <a:srgbClr val="0056B3"/>
                </a:solidFill>
                <a:latin typeface="Roboto Mono Bold" pitchFamily="34" charset="0"/>
                <a:ea typeface="Roboto Mono Bold" pitchFamily="34" charset="-122"/>
                <a:cs typeface="Roboto Mono Bold" pitchFamily="34" charset="-120"/>
              </a:rPr>
              <a:t>Storage Manager</a:t>
            </a:r>
            <a:endParaRPr lang="en-US" sz="1000" dirty="0"/>
          </a:p>
        </p:txBody>
      </p:sp>
      <p:sp>
        <p:nvSpPr>
          <p:cNvPr id="20" name="Text 14"/>
          <p:cNvSpPr/>
          <p:nvPr/>
        </p:nvSpPr>
        <p:spPr>
          <a:xfrm>
            <a:off x="3452775" y="3143250"/>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Controls data on the disk</a:t>
            </a:r>
            <a:endParaRPr lang="en-US" sz="850" dirty="0"/>
          </a:p>
        </p:txBody>
      </p:sp>
      <p:sp>
        <p:nvSpPr>
          <p:cNvPr id="21" name="Text 15"/>
          <p:cNvSpPr/>
          <p:nvPr/>
        </p:nvSpPr>
        <p:spPr>
          <a:xfrm>
            <a:off x="3452775" y="3400425"/>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Manages files and memory</a:t>
            </a:r>
            <a:endParaRPr lang="en-US" sz="850" dirty="0"/>
          </a:p>
        </p:txBody>
      </p:sp>
      <p:sp>
        <p:nvSpPr>
          <p:cNvPr id="22" name="Text 16"/>
          <p:cNvSpPr/>
          <p:nvPr/>
        </p:nvSpPr>
        <p:spPr>
          <a:xfrm>
            <a:off x="3452775" y="3657600"/>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Ensures data is easy to reach</a:t>
            </a:r>
            <a:endParaRPr lang="en-US" sz="850" dirty="0"/>
          </a:p>
        </p:txBody>
      </p:sp>
      <p:sp>
        <p:nvSpPr>
          <p:cNvPr id="23" name="Shape 17"/>
          <p:cNvSpPr/>
          <p:nvPr/>
        </p:nvSpPr>
        <p:spPr>
          <a:xfrm>
            <a:off x="6048356" y="1882378"/>
            <a:ext cx="2524144" cy="2689622"/>
          </a:xfrm>
          <a:prstGeom prst="rect">
            <a:avLst/>
          </a:prstGeom>
          <a:solidFill>
            <a:srgbClr val="FFFFFF"/>
          </a:solidFill>
          <a:ln w="9144">
            <a:solidFill>
              <a:srgbClr val="0A192F"/>
            </a:solidFill>
            <a:prstDash val="solid"/>
          </a:ln>
        </p:spPr>
      </p:sp>
      <p:sp>
        <p:nvSpPr>
          <p:cNvPr id="24" name="Shape 18"/>
          <p:cNvSpPr/>
          <p:nvPr/>
        </p:nvSpPr>
        <p:spPr>
          <a:xfrm>
            <a:off x="7024650" y="2096691"/>
            <a:ext cx="571500" cy="571500"/>
          </a:xfrm>
          <a:prstGeom prst="rect">
            <a:avLst/>
          </a:prstGeom>
          <a:solidFill>
            <a:srgbClr val="ADD8E6"/>
          </a:solidFill>
          <a:ln w="9144">
            <a:solidFill>
              <a:srgbClr val="0A192F"/>
            </a:solidFill>
            <a:prstDash val="solid"/>
          </a:ln>
        </p:spPr>
      </p:sp>
      <p:pic>
        <p:nvPicPr>
          <p:cNvPr id="25" name="Image 3" descr="preencoded.png">    </p:cNvPr>
          <p:cNvPicPr>
            <a:picLocks noChangeAspect="1"/>
          </p:cNvPicPr>
          <p:nvPr/>
        </p:nvPicPr>
        <p:blipFill>
          <a:blip r:embed="rId4"/>
          <a:stretch>
            <a:fillRect/>
          </a:stretch>
        </p:blipFill>
        <p:spPr>
          <a:xfrm>
            <a:off x="7167525" y="2239566"/>
            <a:ext cx="285750" cy="285750"/>
          </a:xfrm>
          <a:prstGeom prst="rect">
            <a:avLst/>
          </a:prstGeom>
        </p:spPr>
      </p:pic>
      <p:sp>
        <p:nvSpPr>
          <p:cNvPr id="26" name="Text 19"/>
          <p:cNvSpPr/>
          <p:nvPr/>
        </p:nvSpPr>
        <p:spPr>
          <a:xfrm>
            <a:off x="6424575" y="2811066"/>
            <a:ext cx="1771650" cy="189309"/>
          </a:xfrm>
          <a:prstGeom prst="rect">
            <a:avLst/>
          </a:prstGeom>
          <a:noFill/>
          <a:ln/>
        </p:spPr>
        <p:txBody>
          <a:bodyPr wrap="square" lIns="85090" tIns="0" rIns="85090" bIns="0" rtlCol="0" anchor="t">
            <a:spAutoFit/>
          </a:bodyPr>
          <a:lstStyle/>
          <a:p>
            <a:pPr algn="ctr" indent="0" marL="0">
              <a:buNone/>
            </a:pPr>
            <a:r>
              <a:rPr lang="en-US" sz="1000" b="1" dirty="0">
                <a:solidFill>
                  <a:srgbClr val="0056B3"/>
                </a:solidFill>
                <a:latin typeface="Roboto Mono Bold" pitchFamily="34" charset="0"/>
                <a:ea typeface="Roboto Mono Bold" pitchFamily="34" charset="-122"/>
                <a:cs typeface="Roboto Mono Bold" pitchFamily="34" charset="-120"/>
              </a:rPr>
              <a:t>Transaction Manager</a:t>
            </a:r>
            <a:endParaRPr lang="en-US" sz="1000" dirty="0"/>
          </a:p>
        </p:txBody>
      </p:sp>
      <p:sp>
        <p:nvSpPr>
          <p:cNvPr id="27" name="Text 20"/>
          <p:cNvSpPr/>
          <p:nvPr/>
        </p:nvSpPr>
        <p:spPr>
          <a:xfrm>
            <a:off x="6191231" y="3143250"/>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Keeps data safe during changes</a:t>
            </a:r>
            <a:endParaRPr lang="en-US" sz="850" dirty="0"/>
          </a:p>
        </p:txBody>
      </p:sp>
      <p:sp>
        <p:nvSpPr>
          <p:cNvPr id="28" name="Text 21"/>
          <p:cNvSpPr/>
          <p:nvPr/>
        </p:nvSpPr>
        <p:spPr>
          <a:xfrm>
            <a:off x="6191231" y="3400425"/>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Handles multiple users at once</a:t>
            </a:r>
            <a:endParaRPr lang="en-US" sz="850" dirty="0"/>
          </a:p>
        </p:txBody>
      </p:sp>
      <p:sp>
        <p:nvSpPr>
          <p:cNvPr id="29" name="Text 22"/>
          <p:cNvSpPr/>
          <p:nvPr/>
        </p:nvSpPr>
        <p:spPr>
          <a:xfrm>
            <a:off x="6191231" y="3657600"/>
            <a:ext cx="2238394" cy="171450"/>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Poppins" pitchFamily="34" charset="0"/>
                <a:ea typeface="Poppins" pitchFamily="34" charset="-122"/>
                <a:cs typeface="Poppins" pitchFamily="34" charset="-120"/>
              </a:rPr>
              <a:t>Prevents data loss or errors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4572000"/>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QUERY AND STORAGE MANAGEMENT</a:t>
            </a:r>
            <a:endParaRPr lang="en-US" sz="1800" dirty="0"/>
          </a:p>
        </p:txBody>
      </p:sp>
      <p:sp>
        <p:nvSpPr>
          <p:cNvPr id="8" name="Text 4"/>
          <p:cNvSpPr/>
          <p:nvPr/>
        </p:nvSpPr>
        <p:spPr>
          <a:xfrm>
            <a:off x="571500" y="1339453"/>
            <a:ext cx="3707606" cy="260747"/>
          </a:xfrm>
          <a:prstGeom prst="rect">
            <a:avLst/>
          </a:prstGeom>
          <a:noFill/>
          <a:ln/>
        </p:spPr>
        <p:txBody>
          <a:bodyPr wrap="square" lIns="0" tIns="85090" rIns="0" bIns="0" rtlCol="0" anchor="t">
            <a:spAutoFit/>
          </a:bodyPr>
          <a:lstStyle/>
          <a:p>
            <a:pPr algn="l" indent="0" marL="0">
              <a:buNone/>
            </a:pPr>
            <a:r>
              <a:rPr lang="en-US" sz="1000" b="1" dirty="0">
                <a:solidFill>
                  <a:srgbClr val="FF6B35"/>
                </a:solidFill>
                <a:latin typeface="Roboto Mono Bold" pitchFamily="34" charset="0"/>
                <a:ea typeface="Roboto Mono Bold" pitchFamily="34" charset="-122"/>
                <a:cs typeface="Roboto Mono Bold" pitchFamily="34" charset="-120"/>
              </a:rPr>
              <a:t>Query Processor Flow</a:t>
            </a:r>
            <a:endParaRPr lang="en-US" sz="1000" dirty="0"/>
          </a:p>
        </p:txBody>
      </p:sp>
      <p:sp>
        <p:nvSpPr>
          <p:cNvPr id="9" name="Shape 5"/>
          <p:cNvSpPr/>
          <p:nvPr/>
        </p:nvSpPr>
        <p:spPr>
          <a:xfrm>
            <a:off x="571500" y="1814513"/>
            <a:ext cx="71438" cy="71438"/>
          </a:xfrm>
          <a:prstGeom prst="rect">
            <a:avLst/>
          </a:prstGeom>
          <a:solidFill>
            <a:srgbClr val="0056B3"/>
          </a:solidFill>
          <a:ln w="9144">
            <a:solidFill>
              <a:srgbClr val="0A192F"/>
            </a:solidFill>
            <a:prstDash val="solid"/>
          </a:ln>
        </p:spPr>
      </p:sp>
      <p:sp>
        <p:nvSpPr>
          <p:cNvPr id="10" name="Text 6"/>
          <p:cNvSpPr/>
          <p:nvPr/>
        </p:nvSpPr>
        <p:spPr>
          <a:xfrm>
            <a:off x="571500" y="1743075"/>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User sends an SQL Query</a:t>
            </a:r>
            <a:endParaRPr lang="en-US" sz="1050" dirty="0"/>
          </a:p>
        </p:txBody>
      </p:sp>
      <p:sp>
        <p:nvSpPr>
          <p:cNvPr id="11" name="Shape 7"/>
          <p:cNvSpPr/>
          <p:nvPr/>
        </p:nvSpPr>
        <p:spPr>
          <a:xfrm>
            <a:off x="571500" y="2121694"/>
            <a:ext cx="71438" cy="71438"/>
          </a:xfrm>
          <a:prstGeom prst="rect">
            <a:avLst/>
          </a:prstGeom>
          <a:solidFill>
            <a:srgbClr val="0056B3"/>
          </a:solidFill>
          <a:ln w="9144">
            <a:solidFill>
              <a:srgbClr val="0A192F"/>
            </a:solidFill>
            <a:prstDash val="solid"/>
          </a:ln>
        </p:spPr>
      </p:sp>
      <p:sp>
        <p:nvSpPr>
          <p:cNvPr id="12" name="Text 8"/>
          <p:cNvSpPr/>
          <p:nvPr/>
        </p:nvSpPr>
        <p:spPr>
          <a:xfrm>
            <a:off x="571500" y="2050256"/>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Processor parses and checks the code</a:t>
            </a:r>
            <a:endParaRPr lang="en-US" sz="1050" dirty="0"/>
          </a:p>
        </p:txBody>
      </p:sp>
      <p:sp>
        <p:nvSpPr>
          <p:cNvPr id="13" name="Shape 9"/>
          <p:cNvSpPr/>
          <p:nvPr/>
        </p:nvSpPr>
        <p:spPr>
          <a:xfrm>
            <a:off x="571500" y="2428875"/>
            <a:ext cx="71438" cy="71438"/>
          </a:xfrm>
          <a:prstGeom prst="rect">
            <a:avLst/>
          </a:prstGeom>
          <a:solidFill>
            <a:srgbClr val="0056B3"/>
          </a:solidFill>
          <a:ln w="9144">
            <a:solidFill>
              <a:srgbClr val="0A192F"/>
            </a:solidFill>
            <a:prstDash val="solid"/>
          </a:ln>
        </p:spPr>
      </p:sp>
      <p:sp>
        <p:nvSpPr>
          <p:cNvPr id="14" name="Text 10"/>
          <p:cNvSpPr/>
          <p:nvPr/>
        </p:nvSpPr>
        <p:spPr>
          <a:xfrm>
            <a:off x="571500" y="2357438"/>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Optimizer finds the best way to run it</a:t>
            </a:r>
            <a:endParaRPr lang="en-US" sz="1050" dirty="0"/>
          </a:p>
        </p:txBody>
      </p:sp>
      <p:sp>
        <p:nvSpPr>
          <p:cNvPr id="15" name="Shape 11"/>
          <p:cNvSpPr/>
          <p:nvPr/>
        </p:nvSpPr>
        <p:spPr>
          <a:xfrm>
            <a:off x="571500" y="2736056"/>
            <a:ext cx="71438" cy="71438"/>
          </a:xfrm>
          <a:prstGeom prst="rect">
            <a:avLst/>
          </a:prstGeom>
          <a:solidFill>
            <a:srgbClr val="0056B3"/>
          </a:solidFill>
          <a:ln w="9144">
            <a:solidFill>
              <a:srgbClr val="0A192F"/>
            </a:solidFill>
            <a:prstDash val="solid"/>
          </a:ln>
        </p:spPr>
      </p:sp>
      <p:sp>
        <p:nvSpPr>
          <p:cNvPr id="16" name="Text 12"/>
          <p:cNvSpPr/>
          <p:nvPr/>
        </p:nvSpPr>
        <p:spPr>
          <a:xfrm>
            <a:off x="571500" y="2664619"/>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Executor gets the data from the database</a:t>
            </a:r>
            <a:endParaRPr lang="en-US" sz="1050" dirty="0"/>
          </a:p>
        </p:txBody>
      </p:sp>
      <p:sp>
        <p:nvSpPr>
          <p:cNvPr id="17" name="Shape 13"/>
          <p:cNvSpPr/>
          <p:nvPr/>
        </p:nvSpPr>
        <p:spPr>
          <a:xfrm>
            <a:off x="571500" y="3043238"/>
            <a:ext cx="71438" cy="71438"/>
          </a:xfrm>
          <a:prstGeom prst="rect">
            <a:avLst/>
          </a:prstGeom>
          <a:solidFill>
            <a:srgbClr val="0056B3"/>
          </a:solidFill>
          <a:ln w="9144">
            <a:solidFill>
              <a:srgbClr val="0A192F"/>
            </a:solidFill>
            <a:prstDash val="solid"/>
          </a:ln>
        </p:spPr>
      </p:sp>
      <p:sp>
        <p:nvSpPr>
          <p:cNvPr id="18" name="Text 14"/>
          <p:cNvSpPr/>
          <p:nvPr/>
        </p:nvSpPr>
        <p:spPr>
          <a:xfrm>
            <a:off x="571500" y="2971800"/>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Final output is shown to the user</a:t>
            </a:r>
            <a:endParaRPr lang="en-US" sz="1050" dirty="0"/>
          </a:p>
        </p:txBody>
      </p:sp>
      <p:sp>
        <p:nvSpPr>
          <p:cNvPr id="19" name="Text 15"/>
          <p:cNvSpPr/>
          <p:nvPr/>
        </p:nvSpPr>
        <p:spPr>
          <a:xfrm>
            <a:off x="571500" y="3386138"/>
            <a:ext cx="3707606" cy="260747"/>
          </a:xfrm>
          <a:prstGeom prst="rect">
            <a:avLst/>
          </a:prstGeom>
          <a:noFill/>
          <a:ln/>
        </p:spPr>
        <p:txBody>
          <a:bodyPr wrap="square" lIns="0" tIns="85090" rIns="0" bIns="0" rtlCol="0" anchor="t">
            <a:spAutoFit/>
          </a:bodyPr>
          <a:lstStyle/>
          <a:p>
            <a:pPr algn="l" indent="0" marL="0">
              <a:buNone/>
            </a:pPr>
            <a:r>
              <a:rPr lang="en-US" sz="1000" b="1" dirty="0">
                <a:solidFill>
                  <a:srgbClr val="FF6B35"/>
                </a:solidFill>
                <a:latin typeface="Roboto Mono Bold" pitchFamily="34" charset="0"/>
                <a:ea typeface="Roboto Mono Bold" pitchFamily="34" charset="-122"/>
                <a:cs typeface="Roboto Mono Bold" pitchFamily="34" charset="-120"/>
              </a:rPr>
              <a:t>Storage Manager Role</a:t>
            </a:r>
            <a:endParaRPr lang="en-US" sz="1000" dirty="0"/>
          </a:p>
        </p:txBody>
      </p:sp>
      <p:sp>
        <p:nvSpPr>
          <p:cNvPr id="20" name="Shape 16"/>
          <p:cNvSpPr/>
          <p:nvPr/>
        </p:nvSpPr>
        <p:spPr>
          <a:xfrm>
            <a:off x="571500" y="3861197"/>
            <a:ext cx="71438" cy="71438"/>
          </a:xfrm>
          <a:prstGeom prst="rect">
            <a:avLst/>
          </a:prstGeom>
          <a:solidFill>
            <a:srgbClr val="0056B3"/>
          </a:solidFill>
          <a:ln w="9144">
            <a:solidFill>
              <a:srgbClr val="0A192F"/>
            </a:solidFill>
            <a:prstDash val="solid"/>
          </a:ln>
        </p:spPr>
      </p:sp>
      <p:sp>
        <p:nvSpPr>
          <p:cNvPr id="21" name="Text 17"/>
          <p:cNvSpPr/>
          <p:nvPr/>
        </p:nvSpPr>
        <p:spPr>
          <a:xfrm>
            <a:off x="571500" y="3789759"/>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Manages files and memory space</a:t>
            </a:r>
            <a:endParaRPr lang="en-US" sz="1050" dirty="0"/>
          </a:p>
        </p:txBody>
      </p:sp>
      <p:sp>
        <p:nvSpPr>
          <p:cNvPr id="22" name="Shape 18"/>
          <p:cNvSpPr/>
          <p:nvPr/>
        </p:nvSpPr>
        <p:spPr>
          <a:xfrm>
            <a:off x="571500" y="4168378"/>
            <a:ext cx="71438" cy="71438"/>
          </a:xfrm>
          <a:prstGeom prst="rect">
            <a:avLst/>
          </a:prstGeom>
          <a:solidFill>
            <a:srgbClr val="0056B3"/>
          </a:solidFill>
          <a:ln w="9144">
            <a:solidFill>
              <a:srgbClr val="0A192F"/>
            </a:solidFill>
            <a:prstDash val="solid"/>
          </a:ln>
        </p:spPr>
      </p:sp>
      <p:sp>
        <p:nvSpPr>
          <p:cNvPr id="23" name="Text 19"/>
          <p:cNvSpPr/>
          <p:nvPr/>
        </p:nvSpPr>
        <p:spPr>
          <a:xfrm>
            <a:off x="571500" y="4096941"/>
            <a:ext cx="3707606" cy="200025"/>
          </a:xfrm>
          <a:prstGeom prst="rect">
            <a:avLst/>
          </a:prstGeom>
          <a:noFill/>
          <a:ln/>
        </p:spPr>
        <p:txBody>
          <a:bodyPr wrap="none" lIns="255143" tIns="0" rIns="0" bIns="0" rtlCol="0" anchor="t">
            <a:spAutoFit/>
          </a:bodyPr>
          <a:lstStyle/>
          <a:p>
            <a:pPr algn="l" indent="0" marL="0">
              <a:lnSpc>
                <a:spcPct val="112000"/>
              </a:lnSpc>
              <a:buNone/>
            </a:pPr>
            <a:r>
              <a:rPr lang="en-US" sz="1050" dirty="0">
                <a:solidFill>
                  <a:srgbClr val="0A192F"/>
                </a:solidFill>
                <a:latin typeface="Poppins" pitchFamily="34" charset="0"/>
                <a:ea typeface="Poppins" pitchFamily="34" charset="-122"/>
                <a:cs typeface="Poppins" pitchFamily="34" charset="-120"/>
              </a:rPr>
              <a:t>Links physical disk to software</a:t>
            </a:r>
            <a:endParaRPr lang="en-US" sz="1050" dirty="0"/>
          </a:p>
        </p:txBody>
      </p:sp>
      <p:sp>
        <p:nvSpPr>
          <p:cNvPr id="24" name="Shape 20"/>
          <p:cNvSpPr/>
          <p:nvPr/>
        </p:nvSpPr>
        <p:spPr>
          <a:xfrm>
            <a:off x="4572000" y="1053703"/>
            <a:ext cx="4286250" cy="3804047"/>
          </a:xfrm>
          <a:prstGeom prst="rect">
            <a:avLst/>
          </a:prstGeom>
          <a:solidFill>
            <a:srgbClr val="FFFFFF"/>
          </a:solidFill>
          <a:ln/>
        </p:spPr>
      </p:sp>
      <p:sp>
        <p:nvSpPr>
          <p:cNvPr id="25" name="Shape 21"/>
          <p:cNvSpPr/>
          <p:nvPr/>
        </p:nvSpPr>
        <p:spPr>
          <a:xfrm>
            <a:off x="5822156" y="1587252"/>
            <a:ext cx="1785938" cy="357188"/>
          </a:xfrm>
          <a:prstGeom prst="rect">
            <a:avLst/>
          </a:prstGeom>
          <a:solidFill>
            <a:srgbClr val="E6E6FA"/>
          </a:solidFill>
          <a:ln w="9144">
            <a:solidFill>
              <a:srgbClr val="0A192F"/>
            </a:solidFill>
            <a:prstDash val="solid"/>
          </a:ln>
        </p:spPr>
      </p:sp>
      <p:sp>
        <p:nvSpPr>
          <p:cNvPr id="26" name="Text 22"/>
          <p:cNvSpPr/>
          <p:nvPr/>
        </p:nvSpPr>
        <p:spPr>
          <a:xfrm>
            <a:off x="5822156" y="1587252"/>
            <a:ext cx="1785938" cy="357188"/>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USER / SQL QUERY</a:t>
            </a:r>
            <a:endParaRPr lang="en-US" sz="800" dirty="0"/>
          </a:p>
        </p:txBody>
      </p:sp>
      <p:pic>
        <p:nvPicPr>
          <p:cNvPr id="27" name="Image 1" descr="preencoded.png">    </p:cNvPr>
          <p:cNvPicPr>
            <a:picLocks noChangeAspect="1"/>
          </p:cNvPicPr>
          <p:nvPr/>
        </p:nvPicPr>
        <p:blipFill>
          <a:blip r:embed="rId2"/>
          <a:stretch>
            <a:fillRect/>
          </a:stretch>
        </p:blipFill>
        <p:spPr>
          <a:xfrm>
            <a:off x="6661547" y="2029718"/>
            <a:ext cx="107156" cy="142875"/>
          </a:xfrm>
          <a:prstGeom prst="rect">
            <a:avLst/>
          </a:prstGeom>
        </p:spPr>
      </p:pic>
      <p:sp>
        <p:nvSpPr>
          <p:cNvPr id="28" name="Shape 23"/>
          <p:cNvSpPr/>
          <p:nvPr/>
        </p:nvSpPr>
        <p:spPr>
          <a:xfrm>
            <a:off x="5822156" y="2265015"/>
            <a:ext cx="1785938" cy="357188"/>
          </a:xfrm>
          <a:prstGeom prst="rect">
            <a:avLst/>
          </a:prstGeom>
          <a:solidFill>
            <a:srgbClr val="FFDAB9"/>
          </a:solidFill>
          <a:ln w="9144">
            <a:solidFill>
              <a:srgbClr val="0A192F"/>
            </a:solidFill>
            <a:prstDash val="solid"/>
          </a:ln>
        </p:spPr>
      </p:sp>
      <p:sp>
        <p:nvSpPr>
          <p:cNvPr id="29" name="Text 24"/>
          <p:cNvSpPr/>
          <p:nvPr/>
        </p:nvSpPr>
        <p:spPr>
          <a:xfrm>
            <a:off x="5822156" y="2265015"/>
            <a:ext cx="1785938" cy="357188"/>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QUERY PROCESSOR</a:t>
            </a:r>
            <a:endParaRPr lang="en-US" sz="800" dirty="0"/>
          </a:p>
        </p:txBody>
      </p:sp>
      <p:pic>
        <p:nvPicPr>
          <p:cNvPr id="30" name="Image 2" descr="preencoded.png">    </p:cNvPr>
          <p:cNvPicPr>
            <a:picLocks noChangeAspect="1"/>
          </p:cNvPicPr>
          <p:nvPr/>
        </p:nvPicPr>
        <p:blipFill>
          <a:blip r:embed="rId3"/>
          <a:stretch>
            <a:fillRect/>
          </a:stretch>
        </p:blipFill>
        <p:spPr>
          <a:xfrm>
            <a:off x="6661547" y="2707481"/>
            <a:ext cx="107156" cy="142875"/>
          </a:xfrm>
          <a:prstGeom prst="rect">
            <a:avLst/>
          </a:prstGeom>
        </p:spPr>
      </p:pic>
      <p:sp>
        <p:nvSpPr>
          <p:cNvPr id="31" name="Shape 25"/>
          <p:cNvSpPr/>
          <p:nvPr/>
        </p:nvSpPr>
        <p:spPr>
          <a:xfrm>
            <a:off x="5822156" y="2942779"/>
            <a:ext cx="1785938" cy="357188"/>
          </a:xfrm>
          <a:prstGeom prst="rect">
            <a:avLst/>
          </a:prstGeom>
          <a:solidFill>
            <a:srgbClr val="ADD8E6"/>
          </a:solidFill>
          <a:ln w="9144">
            <a:solidFill>
              <a:srgbClr val="0A192F"/>
            </a:solidFill>
            <a:prstDash val="solid"/>
          </a:ln>
        </p:spPr>
      </p:sp>
      <p:sp>
        <p:nvSpPr>
          <p:cNvPr id="32" name="Text 26"/>
          <p:cNvSpPr/>
          <p:nvPr/>
        </p:nvSpPr>
        <p:spPr>
          <a:xfrm>
            <a:off x="5822156" y="2942779"/>
            <a:ext cx="1785938" cy="357188"/>
          </a:xfrm>
          <a:prstGeom prst="rect">
            <a:avLst/>
          </a:prstGeom>
          <a:noFill/>
          <a:ln/>
        </p:spPr>
        <p:txBody>
          <a:bodyPr wrap="square" lIns="0" tIns="0" rIns="0" bIns="0" rtlCol="0" anchor="ctr">
            <a:spAutoFit/>
          </a:bodyPr>
          <a:lstStyle/>
          <a:p>
            <a:pPr algn="ctr" indent="0" marL="0">
              <a:buNone/>
            </a:pPr>
            <a:r>
              <a:rPr lang="en-US" sz="800" b="1" dirty="0">
                <a:solidFill>
                  <a:srgbClr val="0A192F"/>
                </a:solidFill>
                <a:latin typeface="Poppins SemiBold" pitchFamily="34" charset="0"/>
                <a:ea typeface="Poppins SemiBold" pitchFamily="34" charset="-122"/>
                <a:cs typeface="Poppins SemiBold" pitchFamily="34" charset="-120"/>
              </a:rPr>
              <a:t>STORAGE MANAGER</a:t>
            </a:r>
            <a:endParaRPr lang="en-US" sz="800" dirty="0"/>
          </a:p>
        </p:txBody>
      </p:sp>
      <p:pic>
        <p:nvPicPr>
          <p:cNvPr id="33" name="Image 3" descr="preencoded.png">    </p:cNvPr>
          <p:cNvPicPr>
            <a:picLocks noChangeAspect="1"/>
          </p:cNvPicPr>
          <p:nvPr/>
        </p:nvPicPr>
        <p:blipFill>
          <a:blip r:embed="rId4"/>
          <a:stretch>
            <a:fillRect/>
          </a:stretch>
        </p:blipFill>
        <p:spPr>
          <a:xfrm>
            <a:off x="6661547" y="3385245"/>
            <a:ext cx="107156" cy="142875"/>
          </a:xfrm>
          <a:prstGeom prst="rect">
            <a:avLst/>
          </a:prstGeom>
        </p:spPr>
      </p:pic>
      <p:pic>
        <p:nvPicPr>
          <p:cNvPr id="34" name="Image 4" descr="preencoded.png">    </p:cNvPr>
          <p:cNvPicPr>
            <a:picLocks noChangeAspect="1"/>
          </p:cNvPicPr>
          <p:nvPr/>
        </p:nvPicPr>
        <p:blipFill>
          <a:blip r:embed="rId5"/>
          <a:stretch>
            <a:fillRect/>
          </a:stretch>
        </p:blipFill>
        <p:spPr>
          <a:xfrm>
            <a:off x="6590109" y="3756273"/>
            <a:ext cx="250031" cy="285750"/>
          </a:xfrm>
          <a:prstGeom prst="rect">
            <a:avLst/>
          </a:prstGeom>
        </p:spPr>
      </p:pic>
      <p:sp>
        <p:nvSpPr>
          <p:cNvPr id="35" name="Text 27"/>
          <p:cNvSpPr/>
          <p:nvPr/>
        </p:nvSpPr>
        <p:spPr>
          <a:xfrm>
            <a:off x="6206133" y="4173736"/>
            <a:ext cx="1017984" cy="150019"/>
          </a:xfrm>
          <a:prstGeom prst="rect">
            <a:avLst/>
          </a:prstGeom>
          <a:noFill/>
          <a:ln/>
        </p:spPr>
        <p:txBody>
          <a:bodyPr wrap="none" lIns="0" tIns="0" rIns="0" bIns="0" rtlCol="0" anchor="t">
            <a:spAutoFit/>
          </a:bodyPr>
          <a:lstStyle/>
          <a:p>
            <a:pPr algn="l" indent="0" marL="0">
              <a:buNone/>
            </a:pPr>
            <a:r>
              <a:rPr lang="en-US" sz="700" b="1" dirty="0">
                <a:solidFill>
                  <a:srgbClr val="0A192F"/>
                </a:solidFill>
                <a:latin typeface="Poppins SemiBold" pitchFamily="34" charset="0"/>
                <a:ea typeface="Poppins SemiBold" pitchFamily="34" charset="-122"/>
                <a:cs typeface="Poppins SemiBold" pitchFamily="34" charset="-120"/>
              </a:rPr>
              <a:t>PHYSICAL DATABASE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4572000"/>
          </a:xfrm>
          <a:prstGeom prst="rect">
            <a:avLst/>
          </a:prstGeom>
          <a:solidFill>
            <a:srgbClr val="000000">
              <a:alpha val="0"/>
            </a:srgbClr>
          </a:solidFill>
          <a:ln w="9144">
            <a:solidFill>
              <a:srgbClr val="0A192F"/>
            </a:solidFill>
            <a:prstDash val="solid"/>
          </a:ln>
        </p:spPr>
      </p:sp>
      <p:sp>
        <p:nvSpPr>
          <p:cNvPr id="5" name="Shape 1"/>
          <p:cNvSpPr/>
          <p:nvPr/>
        </p:nvSpPr>
        <p:spPr>
          <a:xfrm>
            <a:off x="285750" y="285750"/>
            <a:ext cx="8572500" cy="775097"/>
          </a:xfrm>
          <a:prstGeom prst="rect">
            <a:avLst/>
          </a:prstGeom>
          <a:solidFill>
            <a:srgbClr val="0056B3">
              <a:alpha val="5000"/>
            </a:srgbClr>
          </a:solidFill>
          <a:ln/>
        </p:spPr>
      </p:sp>
      <p:sp>
        <p:nvSpPr>
          <p:cNvPr id="6" name="Shape 2"/>
          <p:cNvSpPr/>
          <p:nvPr/>
        </p:nvSpPr>
        <p:spPr>
          <a:xfrm>
            <a:off x="285750" y="1053703"/>
            <a:ext cx="8572500" cy="7144"/>
          </a:xfrm>
          <a:prstGeom prst="rect">
            <a:avLst/>
          </a:prstGeom>
          <a:solidFill>
            <a:srgbClr val="0A192F"/>
          </a:solidFill>
          <a:ln/>
        </p:spPr>
      </p:sp>
      <p:sp>
        <p:nvSpPr>
          <p:cNvPr id="7" name="Text 3"/>
          <p:cNvSpPr/>
          <p:nvPr/>
        </p:nvSpPr>
        <p:spPr>
          <a:xfrm>
            <a:off x="571500" y="500063"/>
            <a:ext cx="8001000" cy="339328"/>
          </a:xfrm>
          <a:prstGeom prst="rect">
            <a:avLst/>
          </a:prstGeom>
          <a:noFill/>
          <a:ln/>
        </p:spPr>
        <p:txBody>
          <a:bodyPr wrap="square" lIns="0" tIns="0" rIns="0" bIns="0" rtlCol="0" anchor="t">
            <a:spAutoFit/>
          </a:bodyPr>
          <a:lstStyle/>
          <a:p>
            <a:pPr algn="l" indent="0" marL="0">
              <a:buNone/>
            </a:pPr>
            <a:r>
              <a:rPr lang="en-US" sz="1800" b="1" dirty="0">
                <a:solidFill>
                  <a:srgbClr val="0056B3"/>
                </a:solidFill>
                <a:latin typeface="Roboto Mono Bold" pitchFamily="34" charset="0"/>
                <a:ea typeface="Roboto Mono Bold" pitchFamily="34" charset="-122"/>
                <a:cs typeface="Roboto Mono Bold" pitchFamily="34" charset="-120"/>
              </a:rPr>
              <a:t>STRONG VS WEAK ENTITIES</a:t>
            </a:r>
            <a:endParaRPr lang="en-US" sz="1800" dirty="0"/>
          </a:p>
        </p:txBody>
      </p:sp>
      <p:sp>
        <p:nvSpPr>
          <p:cNvPr id="8" name="Shape 4"/>
          <p:cNvSpPr/>
          <p:nvPr/>
        </p:nvSpPr>
        <p:spPr>
          <a:xfrm>
            <a:off x="571500" y="1410891"/>
            <a:ext cx="71438" cy="71438"/>
          </a:xfrm>
          <a:prstGeom prst="rect">
            <a:avLst/>
          </a:prstGeom>
          <a:solidFill>
            <a:srgbClr val="FF6B35"/>
          </a:solidFill>
          <a:ln w="9144">
            <a:solidFill>
              <a:srgbClr val="0A192F"/>
            </a:solidFill>
            <a:prstDash val="solid"/>
          </a:ln>
        </p:spPr>
      </p:sp>
      <p:sp>
        <p:nvSpPr>
          <p:cNvPr id="9" name="Text 5"/>
          <p:cNvSpPr/>
          <p:nvPr/>
        </p:nvSpPr>
        <p:spPr>
          <a:xfrm>
            <a:off x="571500" y="1339453"/>
            <a:ext cx="3707606" cy="440010"/>
          </a:xfrm>
          <a:prstGeom prst="rect">
            <a:avLst/>
          </a:prstGeom>
          <a:noFill/>
          <a:ln/>
        </p:spPr>
        <p:txBody>
          <a:bodyPr wrap="square" lIns="255143" tIns="0" rIns="0" bIns="0" rtlCol="0" anchor="t">
            <a:spAutoFit/>
          </a:bodyPr>
          <a:lstStyle/>
          <a:p>
            <a:pPr algn="l" indent="0" marL="0">
              <a:lnSpc>
                <a:spcPct val="112000"/>
              </a:lnSpc>
              <a:buNone/>
            </a:pPr>
            <a:r>
              <a:rPr lang="en-US" sz="1100" b="1" dirty="0">
                <a:solidFill>
                  <a:srgbClr val="0A192F"/>
                </a:solidFill>
                <a:latin typeface="Poppins SemiBold" pitchFamily="34" charset="0"/>
                <a:ea typeface="Poppins SemiBold" pitchFamily="34" charset="-122"/>
                <a:cs typeface="Poppins SemiBold" pitchFamily="34" charset="-120"/>
              </a:rPr>
              <a:t>Strong Entity:</a:t>
            </a:r>
            <a:r>
              <a:rPr lang="en-US" sz="1150" dirty="0">
                <a:solidFill>
                  <a:srgbClr val="0A192F"/>
                </a:solidFill>
                <a:latin typeface="Poppins" pitchFamily="34" charset="0"/>
                <a:ea typeface="Poppins" pitchFamily="34" charset="-122"/>
                <a:cs typeface="Poppins" pitchFamily="34" charset="-120"/>
              </a:rPr>
              <a:t> Can exist on its own (e.g., Student)</a:t>
            </a:r>
            <a:endParaRPr lang="en-US" sz="1100" dirty="0"/>
          </a:p>
        </p:txBody>
      </p:sp>
      <p:sp>
        <p:nvSpPr>
          <p:cNvPr id="10" name="Shape 6"/>
          <p:cNvSpPr/>
          <p:nvPr/>
        </p:nvSpPr>
        <p:spPr>
          <a:xfrm>
            <a:off x="571500" y="1993776"/>
            <a:ext cx="71438" cy="71438"/>
          </a:xfrm>
          <a:prstGeom prst="rect">
            <a:avLst/>
          </a:prstGeom>
          <a:solidFill>
            <a:srgbClr val="FF6B35"/>
          </a:solidFill>
          <a:ln w="9144">
            <a:solidFill>
              <a:srgbClr val="0A192F"/>
            </a:solidFill>
            <a:prstDash val="solid"/>
          </a:ln>
        </p:spPr>
      </p:sp>
      <p:sp>
        <p:nvSpPr>
          <p:cNvPr id="11" name="Text 7"/>
          <p:cNvSpPr/>
          <p:nvPr/>
        </p:nvSpPr>
        <p:spPr>
          <a:xfrm>
            <a:off x="571500" y="1922338"/>
            <a:ext cx="3707606" cy="220005"/>
          </a:xfrm>
          <a:prstGeom prst="rect">
            <a:avLst/>
          </a:prstGeom>
          <a:noFill/>
          <a:ln/>
        </p:spPr>
        <p:txBody>
          <a:bodyPr wrap="none" lIns="255143" tIns="0" rIns="0" bIns="0" rtlCol="0" anchor="t">
            <a:spAutoFit/>
          </a:bodyPr>
          <a:lstStyle/>
          <a:p>
            <a:pPr algn="l" indent="0" marL="0">
              <a:lnSpc>
                <a:spcPct val="112000"/>
              </a:lnSpc>
              <a:buNone/>
            </a:pPr>
            <a:r>
              <a:rPr lang="en-US" sz="1150" dirty="0">
                <a:solidFill>
                  <a:srgbClr val="0A192F"/>
                </a:solidFill>
                <a:latin typeface="Poppins" pitchFamily="34" charset="0"/>
                <a:ea typeface="Poppins" pitchFamily="34" charset="-122"/>
                <a:cs typeface="Poppins" pitchFamily="34" charset="-120"/>
              </a:rPr>
              <a:t>Has its own unique Primary Key</a:t>
            </a:r>
            <a:endParaRPr lang="en-US" sz="1150" dirty="0"/>
          </a:p>
        </p:txBody>
      </p:sp>
      <p:sp>
        <p:nvSpPr>
          <p:cNvPr id="12" name="Shape 8"/>
          <p:cNvSpPr/>
          <p:nvPr/>
        </p:nvSpPr>
        <p:spPr>
          <a:xfrm>
            <a:off x="571500" y="2356656"/>
            <a:ext cx="71438" cy="71438"/>
          </a:xfrm>
          <a:prstGeom prst="rect">
            <a:avLst/>
          </a:prstGeom>
          <a:solidFill>
            <a:srgbClr val="FF6B35"/>
          </a:solidFill>
          <a:ln w="9144">
            <a:solidFill>
              <a:srgbClr val="0A192F"/>
            </a:solidFill>
            <a:prstDash val="solid"/>
          </a:ln>
        </p:spPr>
      </p:sp>
      <p:sp>
        <p:nvSpPr>
          <p:cNvPr id="13" name="Text 9"/>
          <p:cNvSpPr/>
          <p:nvPr/>
        </p:nvSpPr>
        <p:spPr>
          <a:xfrm>
            <a:off x="571500" y="2285219"/>
            <a:ext cx="3707606" cy="440010"/>
          </a:xfrm>
          <a:prstGeom prst="rect">
            <a:avLst/>
          </a:prstGeom>
          <a:noFill/>
          <a:ln/>
        </p:spPr>
        <p:txBody>
          <a:bodyPr wrap="square" lIns="255143" tIns="0" rIns="0" bIns="0" rtlCol="0" anchor="t">
            <a:spAutoFit/>
          </a:bodyPr>
          <a:lstStyle/>
          <a:p>
            <a:pPr algn="l" indent="0" marL="0">
              <a:lnSpc>
                <a:spcPct val="112000"/>
              </a:lnSpc>
              <a:buNone/>
            </a:pPr>
            <a:r>
              <a:rPr lang="en-US" sz="1100" b="1" dirty="0">
                <a:solidFill>
                  <a:srgbClr val="0A192F"/>
                </a:solidFill>
                <a:latin typeface="Poppins SemiBold" pitchFamily="34" charset="0"/>
                <a:ea typeface="Poppins SemiBold" pitchFamily="34" charset="-122"/>
                <a:cs typeface="Poppins SemiBold" pitchFamily="34" charset="-120"/>
              </a:rPr>
              <a:t>Weak Entity:</a:t>
            </a:r>
            <a:r>
              <a:rPr lang="en-US" sz="1150" dirty="0">
                <a:solidFill>
                  <a:srgbClr val="0A192F"/>
                </a:solidFill>
                <a:latin typeface="Poppins" pitchFamily="34" charset="0"/>
                <a:ea typeface="Poppins" pitchFamily="34" charset="-122"/>
                <a:cs typeface="Poppins" pitchFamily="34" charset="-120"/>
              </a:rPr>
              <a:t> Depends on another entity (e.g., Dependent)</a:t>
            </a:r>
            <a:endParaRPr lang="en-US" sz="1100" dirty="0"/>
          </a:p>
        </p:txBody>
      </p:sp>
      <p:sp>
        <p:nvSpPr>
          <p:cNvPr id="14" name="Shape 10"/>
          <p:cNvSpPr/>
          <p:nvPr/>
        </p:nvSpPr>
        <p:spPr>
          <a:xfrm>
            <a:off x="571500" y="2939542"/>
            <a:ext cx="71438" cy="71438"/>
          </a:xfrm>
          <a:prstGeom prst="rect">
            <a:avLst/>
          </a:prstGeom>
          <a:solidFill>
            <a:srgbClr val="FF6B35"/>
          </a:solidFill>
          <a:ln w="9144">
            <a:solidFill>
              <a:srgbClr val="0A192F"/>
            </a:solidFill>
            <a:prstDash val="solid"/>
          </a:ln>
        </p:spPr>
      </p:sp>
      <p:sp>
        <p:nvSpPr>
          <p:cNvPr id="15" name="Text 11"/>
          <p:cNvSpPr/>
          <p:nvPr/>
        </p:nvSpPr>
        <p:spPr>
          <a:xfrm>
            <a:off x="571500" y="2868104"/>
            <a:ext cx="3707606" cy="220005"/>
          </a:xfrm>
          <a:prstGeom prst="rect">
            <a:avLst/>
          </a:prstGeom>
          <a:noFill/>
          <a:ln/>
        </p:spPr>
        <p:txBody>
          <a:bodyPr wrap="none" lIns="255143" tIns="0" rIns="0" bIns="0" rtlCol="0" anchor="t">
            <a:spAutoFit/>
          </a:bodyPr>
          <a:lstStyle/>
          <a:p>
            <a:pPr algn="l" indent="0" marL="0">
              <a:lnSpc>
                <a:spcPct val="112000"/>
              </a:lnSpc>
              <a:buNone/>
            </a:pPr>
            <a:r>
              <a:rPr lang="en-US" sz="1150" dirty="0">
                <a:solidFill>
                  <a:srgbClr val="0A192F"/>
                </a:solidFill>
                <a:latin typeface="Poppins" pitchFamily="34" charset="0"/>
                <a:ea typeface="Poppins" pitchFamily="34" charset="-122"/>
                <a:cs typeface="Poppins" pitchFamily="34" charset="-120"/>
              </a:rPr>
              <a:t>Does not have its own Primary Key</a:t>
            </a:r>
            <a:endParaRPr lang="en-US" sz="1150" dirty="0"/>
          </a:p>
        </p:txBody>
      </p:sp>
      <p:sp>
        <p:nvSpPr>
          <p:cNvPr id="16" name="Shape 12"/>
          <p:cNvSpPr/>
          <p:nvPr/>
        </p:nvSpPr>
        <p:spPr>
          <a:xfrm>
            <a:off x="571500" y="3302422"/>
            <a:ext cx="71438" cy="71438"/>
          </a:xfrm>
          <a:prstGeom prst="rect">
            <a:avLst/>
          </a:prstGeom>
          <a:solidFill>
            <a:srgbClr val="FF6B35"/>
          </a:solidFill>
          <a:ln w="9144">
            <a:solidFill>
              <a:srgbClr val="0A192F"/>
            </a:solidFill>
            <a:prstDash val="solid"/>
          </a:ln>
        </p:spPr>
      </p:sp>
      <p:sp>
        <p:nvSpPr>
          <p:cNvPr id="17" name="Text 13"/>
          <p:cNvSpPr/>
          <p:nvPr/>
        </p:nvSpPr>
        <p:spPr>
          <a:xfrm>
            <a:off x="571500" y="3230984"/>
            <a:ext cx="3707606" cy="220005"/>
          </a:xfrm>
          <a:prstGeom prst="rect">
            <a:avLst/>
          </a:prstGeom>
          <a:noFill/>
          <a:ln/>
        </p:spPr>
        <p:txBody>
          <a:bodyPr wrap="none" lIns="255143" tIns="0" rIns="0" bIns="0" rtlCol="0" anchor="t">
            <a:spAutoFit/>
          </a:bodyPr>
          <a:lstStyle/>
          <a:p>
            <a:pPr algn="l" indent="0" marL="0">
              <a:lnSpc>
                <a:spcPct val="112000"/>
              </a:lnSpc>
              <a:buNone/>
            </a:pPr>
            <a:r>
              <a:rPr lang="en-US" sz="1150" dirty="0">
                <a:solidFill>
                  <a:srgbClr val="0A192F"/>
                </a:solidFill>
                <a:latin typeface="Poppins" pitchFamily="34" charset="0"/>
                <a:ea typeface="Poppins" pitchFamily="34" charset="-122"/>
                <a:cs typeface="Poppins" pitchFamily="34" charset="-120"/>
              </a:rPr>
              <a:t>Uses a "Double Rectangle" in diagrams</a:t>
            </a:r>
            <a:endParaRPr lang="en-US" sz="1150" dirty="0"/>
          </a:p>
        </p:txBody>
      </p:sp>
      <p:sp>
        <p:nvSpPr>
          <p:cNvPr id="18" name="Shape 14"/>
          <p:cNvSpPr/>
          <p:nvPr/>
        </p:nvSpPr>
        <p:spPr>
          <a:xfrm>
            <a:off x="571500" y="3665302"/>
            <a:ext cx="71438" cy="71438"/>
          </a:xfrm>
          <a:prstGeom prst="rect">
            <a:avLst/>
          </a:prstGeom>
          <a:solidFill>
            <a:srgbClr val="FF6B35"/>
          </a:solidFill>
          <a:ln w="9144">
            <a:solidFill>
              <a:srgbClr val="0A192F"/>
            </a:solidFill>
            <a:prstDash val="solid"/>
          </a:ln>
        </p:spPr>
      </p:sp>
      <p:sp>
        <p:nvSpPr>
          <p:cNvPr id="19" name="Text 15"/>
          <p:cNvSpPr/>
          <p:nvPr/>
        </p:nvSpPr>
        <p:spPr>
          <a:xfrm>
            <a:off x="571500" y="3593864"/>
            <a:ext cx="3707606" cy="220005"/>
          </a:xfrm>
          <a:prstGeom prst="rect">
            <a:avLst/>
          </a:prstGeom>
          <a:noFill/>
          <a:ln/>
        </p:spPr>
        <p:txBody>
          <a:bodyPr wrap="none" lIns="255143" tIns="0" rIns="0" bIns="0" rtlCol="0" anchor="t">
            <a:spAutoFit/>
          </a:bodyPr>
          <a:lstStyle/>
          <a:p>
            <a:pPr algn="l" indent="0" marL="0">
              <a:lnSpc>
                <a:spcPct val="112000"/>
              </a:lnSpc>
              <a:buNone/>
            </a:pPr>
            <a:r>
              <a:rPr lang="en-US" sz="1150" dirty="0">
                <a:solidFill>
                  <a:srgbClr val="0A192F"/>
                </a:solidFill>
                <a:latin typeface="Poppins" pitchFamily="34" charset="0"/>
                <a:ea typeface="Poppins" pitchFamily="34" charset="-122"/>
                <a:cs typeface="Poppins" pitchFamily="34" charset="-120"/>
              </a:rPr>
              <a:t>Needs a "Double Diamond" relationship</a:t>
            </a:r>
            <a:endParaRPr lang="en-US" sz="1150" dirty="0"/>
          </a:p>
        </p:txBody>
      </p:sp>
      <p:sp>
        <p:nvSpPr>
          <p:cNvPr id="20" name="Shape 16"/>
          <p:cNvSpPr/>
          <p:nvPr/>
        </p:nvSpPr>
        <p:spPr>
          <a:xfrm>
            <a:off x="4572000" y="1053703"/>
            <a:ext cx="4286250" cy="3804047"/>
          </a:xfrm>
          <a:prstGeom prst="rect">
            <a:avLst/>
          </a:prstGeom>
          <a:solidFill>
            <a:srgbClr val="FFFFFF"/>
          </a:solidFill>
          <a:ln/>
        </p:spPr>
      </p:sp>
      <p:sp>
        <p:nvSpPr>
          <p:cNvPr id="21" name="Shape 17"/>
          <p:cNvSpPr/>
          <p:nvPr/>
        </p:nvSpPr>
        <p:spPr>
          <a:xfrm>
            <a:off x="6072188" y="1674595"/>
            <a:ext cx="1285875" cy="428625"/>
          </a:xfrm>
          <a:prstGeom prst="rect">
            <a:avLst/>
          </a:prstGeom>
          <a:solidFill>
            <a:srgbClr val="ADD8E6"/>
          </a:solidFill>
          <a:ln w="9144">
            <a:solidFill>
              <a:srgbClr val="0A192F"/>
            </a:solidFill>
            <a:prstDash val="solid"/>
          </a:ln>
        </p:spPr>
      </p:sp>
      <p:sp>
        <p:nvSpPr>
          <p:cNvPr id="22" name="Text 18"/>
          <p:cNvSpPr/>
          <p:nvPr/>
        </p:nvSpPr>
        <p:spPr>
          <a:xfrm>
            <a:off x="6213277" y="1803183"/>
            <a:ext cx="503634" cy="171450"/>
          </a:xfrm>
          <a:prstGeom prst="rect">
            <a:avLst/>
          </a:prstGeom>
          <a:noFill/>
          <a:ln/>
        </p:spPr>
        <p:txBody>
          <a:bodyPr wrap="none" lIns="0" tIns="0" rIns="0" bIns="0" rtlCol="0" anchor="t">
            <a:spAutoFit/>
          </a:bodyPr>
          <a:lstStyle/>
          <a:p>
            <a:pPr algn="l" indent="0" marL="0">
              <a:buNone/>
            </a:pPr>
            <a:r>
              <a:rPr lang="en-US" sz="800" b="1" dirty="0">
                <a:solidFill>
                  <a:srgbClr val="0A192F"/>
                </a:solidFill>
                <a:latin typeface="Poppins SemiBold" pitchFamily="34" charset="0"/>
                <a:ea typeface="Poppins SemiBold" pitchFamily="34" charset="-122"/>
                <a:cs typeface="Poppins SemiBold" pitchFamily="34" charset="-120"/>
              </a:rPr>
              <a:t>STUDENT</a:t>
            </a:r>
            <a:endParaRPr lang="en-US" sz="800" dirty="0"/>
          </a:p>
        </p:txBody>
      </p:sp>
      <p:sp>
        <p:nvSpPr>
          <p:cNvPr id="23" name="Text 19"/>
          <p:cNvSpPr/>
          <p:nvPr/>
        </p:nvSpPr>
        <p:spPr>
          <a:xfrm>
            <a:off x="6716911" y="1803183"/>
            <a:ext cx="500063" cy="171450"/>
          </a:xfrm>
          <a:prstGeom prst="rect">
            <a:avLst/>
          </a:prstGeom>
          <a:noFill/>
          <a:ln/>
        </p:spPr>
        <p:txBody>
          <a:bodyPr wrap="none" lIns="0" tIns="0" rIns="0" bIns="0" rtlCol="0" anchor="t">
            <a:spAutoFit/>
          </a:bodyPr>
          <a:lstStyle/>
          <a:p>
            <a:pPr algn="l" indent="0" marL="0">
              <a:buNone/>
            </a:pPr>
            <a:r>
              <a:rPr lang="en-US" sz="800" b="1" dirty="0">
                <a:solidFill>
                  <a:srgbClr val="0A192F"/>
                </a:solidFill>
                <a:latin typeface="Poppins SemiBold" pitchFamily="34" charset="0"/>
                <a:ea typeface="Poppins SemiBold" pitchFamily="34" charset="-122"/>
                <a:cs typeface="Poppins SemiBold" pitchFamily="34" charset="-120"/>
              </a:rPr>
              <a:t>(Strong)</a:t>
            </a:r>
            <a:endParaRPr lang="en-US" sz="800" dirty="0"/>
          </a:p>
        </p:txBody>
      </p:sp>
      <p:sp>
        <p:nvSpPr>
          <p:cNvPr id="24" name="Shape 20"/>
          <p:cNvSpPr/>
          <p:nvPr/>
        </p:nvSpPr>
        <p:spPr>
          <a:xfrm rot="2700000">
            <a:off x="6429375" y="2669921"/>
            <a:ext cx="571500" cy="571500"/>
          </a:xfrm>
          <a:prstGeom prst="rect">
            <a:avLst/>
          </a:prstGeom>
          <a:solidFill>
            <a:srgbClr val="FFFFFF"/>
          </a:solidFill>
          <a:ln w="27432">
            <a:solidFill>
              <a:srgbClr val="0A192F"/>
            </a:solidFill>
            <a:prstDash val="solid"/>
          </a:ln>
        </p:spPr>
      </p:sp>
      <p:sp>
        <p:nvSpPr>
          <p:cNvPr id="25" name="Text 21"/>
          <p:cNvSpPr/>
          <p:nvPr/>
        </p:nvSpPr>
        <p:spPr>
          <a:xfrm>
            <a:off x="6627614" y="2893163"/>
            <a:ext cx="175022" cy="125016"/>
          </a:xfrm>
          <a:prstGeom prst="rect">
            <a:avLst/>
          </a:prstGeom>
          <a:noFill/>
          <a:ln/>
        </p:spPr>
        <p:txBody>
          <a:bodyPr wrap="none" lIns="0" tIns="0" rIns="0" bIns="0" rtlCol="0" anchor="t">
            <a:spAutoFit/>
          </a:bodyPr>
          <a:lstStyle/>
          <a:p>
            <a:pPr algn="l" indent="0" marL="0">
              <a:buNone/>
            </a:pPr>
            <a:r>
              <a:rPr lang="en-US" sz="600" b="1" dirty="0">
                <a:solidFill>
                  <a:srgbClr val="0A192F"/>
                </a:solidFill>
                <a:latin typeface="Poppins SemiBold" pitchFamily="34" charset="0"/>
                <a:ea typeface="Poppins SemiBold" pitchFamily="34" charset="-122"/>
                <a:cs typeface="Poppins SemiBold" pitchFamily="34" charset="-120"/>
              </a:rPr>
              <a:t>HAS</a:t>
            </a:r>
            <a:endParaRPr lang="en-US" sz="600" dirty="0"/>
          </a:p>
        </p:txBody>
      </p:sp>
      <p:sp>
        <p:nvSpPr>
          <p:cNvPr id="26" name="Shape 22"/>
          <p:cNvSpPr/>
          <p:nvPr/>
        </p:nvSpPr>
        <p:spPr>
          <a:xfrm>
            <a:off x="6072188" y="3808121"/>
            <a:ext cx="1285875" cy="428625"/>
          </a:xfrm>
          <a:prstGeom prst="rect">
            <a:avLst/>
          </a:prstGeom>
          <a:solidFill>
            <a:srgbClr val="FFDAB9"/>
          </a:solidFill>
          <a:ln w="27432">
            <a:solidFill>
              <a:srgbClr val="0A192F"/>
            </a:solidFill>
            <a:prstDash val="solid"/>
          </a:ln>
        </p:spPr>
      </p:sp>
      <p:sp>
        <p:nvSpPr>
          <p:cNvPr id="27" name="Text 23"/>
          <p:cNvSpPr/>
          <p:nvPr/>
        </p:nvSpPr>
        <p:spPr>
          <a:xfrm>
            <a:off x="6170414" y="3936709"/>
            <a:ext cx="642938" cy="171450"/>
          </a:xfrm>
          <a:prstGeom prst="rect">
            <a:avLst/>
          </a:prstGeom>
          <a:noFill/>
          <a:ln/>
        </p:spPr>
        <p:txBody>
          <a:bodyPr wrap="none" lIns="0" tIns="0" rIns="0" bIns="0" rtlCol="0" anchor="t">
            <a:spAutoFit/>
          </a:bodyPr>
          <a:lstStyle/>
          <a:p>
            <a:pPr algn="l" indent="0" marL="0">
              <a:buNone/>
            </a:pPr>
            <a:r>
              <a:rPr lang="en-US" sz="800" b="1" dirty="0">
                <a:solidFill>
                  <a:srgbClr val="0A192F"/>
                </a:solidFill>
                <a:latin typeface="Poppins SemiBold" pitchFamily="34" charset="0"/>
                <a:ea typeface="Poppins SemiBold" pitchFamily="34" charset="-122"/>
                <a:cs typeface="Poppins SemiBold" pitchFamily="34" charset="-120"/>
              </a:rPr>
              <a:t>DEPENDENT</a:t>
            </a:r>
            <a:endParaRPr lang="en-US" sz="800" dirty="0"/>
          </a:p>
        </p:txBody>
      </p:sp>
      <p:sp>
        <p:nvSpPr>
          <p:cNvPr id="28" name="Text 24"/>
          <p:cNvSpPr/>
          <p:nvPr/>
        </p:nvSpPr>
        <p:spPr>
          <a:xfrm>
            <a:off x="6813352" y="3936709"/>
            <a:ext cx="446484" cy="171450"/>
          </a:xfrm>
          <a:prstGeom prst="rect">
            <a:avLst/>
          </a:prstGeom>
          <a:noFill/>
          <a:ln/>
        </p:spPr>
        <p:txBody>
          <a:bodyPr wrap="none" lIns="0" tIns="0" rIns="0" bIns="0" rtlCol="0" anchor="t">
            <a:spAutoFit/>
          </a:bodyPr>
          <a:lstStyle/>
          <a:p>
            <a:pPr algn="l" indent="0" marL="0">
              <a:buNone/>
            </a:pPr>
            <a:r>
              <a:rPr lang="en-US" sz="800" b="1" dirty="0">
                <a:solidFill>
                  <a:srgbClr val="0A192F"/>
                </a:solidFill>
                <a:latin typeface="Poppins SemiBold" pitchFamily="34" charset="0"/>
                <a:ea typeface="Poppins SemiBold" pitchFamily="34" charset="-122"/>
                <a:cs typeface="Poppins SemiBold" pitchFamily="34" charset="-120"/>
              </a:rPr>
              <a:t>(Weak)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14313" y="214313"/>
            <a:ext cx="8715375" cy="4714875"/>
          </a:xfrm>
          <a:prstGeom prst="rect">
            <a:avLst/>
          </a:prstGeom>
          <a:solidFill>
            <a:srgbClr val="000000">
              <a:alpha val="0"/>
            </a:srgbClr>
          </a:solidFill>
          <a:ln w="9144">
            <a:solidFill>
              <a:srgbClr val="0A192F"/>
            </a:solidFill>
            <a:prstDash val="solid"/>
          </a:ln>
        </p:spPr>
      </p:sp>
      <p:sp>
        <p:nvSpPr>
          <p:cNvPr id="5" name="Shape 1"/>
          <p:cNvSpPr/>
          <p:nvPr/>
        </p:nvSpPr>
        <p:spPr>
          <a:xfrm>
            <a:off x="214313" y="214313"/>
            <a:ext cx="8715375" cy="664369"/>
          </a:xfrm>
          <a:prstGeom prst="rect">
            <a:avLst/>
          </a:prstGeom>
          <a:solidFill>
            <a:srgbClr val="0056B3">
              <a:alpha val="5000"/>
            </a:srgbClr>
          </a:solidFill>
          <a:ln/>
        </p:spPr>
      </p:sp>
      <p:sp>
        <p:nvSpPr>
          <p:cNvPr id="6" name="Shape 2"/>
          <p:cNvSpPr/>
          <p:nvPr/>
        </p:nvSpPr>
        <p:spPr>
          <a:xfrm>
            <a:off x="214313" y="871538"/>
            <a:ext cx="8715375" cy="7144"/>
          </a:xfrm>
          <a:prstGeom prst="rect">
            <a:avLst/>
          </a:prstGeom>
          <a:solidFill>
            <a:srgbClr val="0A192F"/>
          </a:solidFill>
          <a:ln/>
        </p:spPr>
      </p:sp>
      <p:sp>
        <p:nvSpPr>
          <p:cNvPr id="7" name="Text 3"/>
          <p:cNvSpPr/>
          <p:nvPr/>
        </p:nvSpPr>
        <p:spPr>
          <a:xfrm>
            <a:off x="500063" y="392906"/>
            <a:ext cx="8143875" cy="300038"/>
          </a:xfrm>
          <a:prstGeom prst="rect">
            <a:avLst/>
          </a:prstGeom>
          <a:noFill/>
          <a:ln/>
        </p:spPr>
        <p:txBody>
          <a:bodyPr wrap="square" lIns="0" tIns="0" rIns="0" bIns="0" rtlCol="0" anchor="t">
            <a:spAutoFit/>
          </a:bodyPr>
          <a:lstStyle/>
          <a:p>
            <a:pPr algn="l" indent="0" marL="0">
              <a:buNone/>
            </a:pPr>
            <a:r>
              <a:rPr lang="en-US" sz="1600" b="1" dirty="0">
                <a:solidFill>
                  <a:srgbClr val="0056B3"/>
                </a:solidFill>
                <a:latin typeface="Roboto Mono Bold" pitchFamily="34" charset="0"/>
                <a:ea typeface="Roboto Mono Bold" pitchFamily="34" charset="-122"/>
                <a:cs typeface="Roboto Mono Bold" pitchFamily="34" charset="-120"/>
              </a:rPr>
              <a:t>COMPARING ENTITY TYPES</a:t>
            </a:r>
            <a:endParaRPr lang="en-US" sz="1600" dirty="0"/>
          </a:p>
        </p:txBody>
      </p:sp>
      <p:sp>
        <p:nvSpPr>
          <p:cNvPr id="8" name="Shape 4"/>
          <p:cNvSpPr/>
          <p:nvPr/>
        </p:nvSpPr>
        <p:spPr>
          <a:xfrm>
            <a:off x="214313" y="871538"/>
            <a:ext cx="2183532" cy="385763"/>
          </a:xfrm>
          <a:prstGeom prst="rect">
            <a:avLst/>
          </a:prstGeom>
          <a:solidFill>
            <a:srgbClr val="FF6B35">
              <a:alpha val="10000"/>
            </a:srgbClr>
          </a:solidFill>
          <a:ln/>
        </p:spPr>
      </p:sp>
      <p:sp>
        <p:nvSpPr>
          <p:cNvPr id="9" name="Shape 5"/>
          <p:cNvSpPr/>
          <p:nvPr/>
        </p:nvSpPr>
        <p:spPr>
          <a:xfrm>
            <a:off x="2390701" y="871538"/>
            <a:ext cx="7144" cy="385763"/>
          </a:xfrm>
          <a:prstGeom prst="rect">
            <a:avLst/>
          </a:prstGeom>
          <a:solidFill>
            <a:srgbClr val="0A192F"/>
          </a:solidFill>
          <a:ln/>
        </p:spPr>
      </p:sp>
      <p:sp>
        <p:nvSpPr>
          <p:cNvPr id="10" name="Text 6"/>
          <p:cNvSpPr/>
          <p:nvPr/>
        </p:nvSpPr>
        <p:spPr>
          <a:xfrm>
            <a:off x="214313" y="871538"/>
            <a:ext cx="2183532" cy="385763"/>
          </a:xfrm>
          <a:prstGeom prst="rect">
            <a:avLst/>
          </a:prstGeom>
          <a:noFill/>
          <a:ln/>
        </p:spPr>
        <p:txBody>
          <a:bodyPr wrap="square" lIns="255143" tIns="127508" rIns="255143" bIns="1275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FEATURE</a:t>
            </a:r>
            <a:endParaRPr lang="en-US" sz="900" dirty="0"/>
          </a:p>
        </p:txBody>
      </p:sp>
      <p:sp>
        <p:nvSpPr>
          <p:cNvPr id="11" name="Shape 7"/>
          <p:cNvSpPr/>
          <p:nvPr/>
        </p:nvSpPr>
        <p:spPr>
          <a:xfrm>
            <a:off x="2397844" y="871538"/>
            <a:ext cx="2896735" cy="385763"/>
          </a:xfrm>
          <a:prstGeom prst="rect">
            <a:avLst/>
          </a:prstGeom>
          <a:solidFill>
            <a:srgbClr val="FF6B35">
              <a:alpha val="10000"/>
            </a:srgbClr>
          </a:solidFill>
          <a:ln/>
        </p:spPr>
      </p:sp>
      <p:sp>
        <p:nvSpPr>
          <p:cNvPr id="12" name="Shape 8"/>
          <p:cNvSpPr/>
          <p:nvPr/>
        </p:nvSpPr>
        <p:spPr>
          <a:xfrm>
            <a:off x="5287435" y="871538"/>
            <a:ext cx="7144" cy="385763"/>
          </a:xfrm>
          <a:prstGeom prst="rect">
            <a:avLst/>
          </a:prstGeom>
          <a:solidFill>
            <a:srgbClr val="0A192F"/>
          </a:solidFill>
          <a:ln/>
        </p:spPr>
      </p:sp>
      <p:sp>
        <p:nvSpPr>
          <p:cNvPr id="13" name="Text 9"/>
          <p:cNvSpPr/>
          <p:nvPr/>
        </p:nvSpPr>
        <p:spPr>
          <a:xfrm>
            <a:off x="2397844" y="871538"/>
            <a:ext cx="2896735" cy="385763"/>
          </a:xfrm>
          <a:prstGeom prst="rect">
            <a:avLst/>
          </a:prstGeom>
          <a:noFill/>
          <a:ln/>
        </p:spPr>
        <p:txBody>
          <a:bodyPr wrap="square" lIns="255143" tIns="127508" rIns="255143" bIns="1275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STRONG ENTITY</a:t>
            </a:r>
            <a:endParaRPr lang="en-US" sz="900" dirty="0"/>
          </a:p>
        </p:txBody>
      </p:sp>
      <p:sp>
        <p:nvSpPr>
          <p:cNvPr id="14" name="Shape 10"/>
          <p:cNvSpPr/>
          <p:nvPr/>
        </p:nvSpPr>
        <p:spPr>
          <a:xfrm>
            <a:off x="5294579" y="871538"/>
            <a:ext cx="3635108" cy="385763"/>
          </a:xfrm>
          <a:prstGeom prst="rect">
            <a:avLst/>
          </a:prstGeom>
          <a:solidFill>
            <a:srgbClr val="FF6B35">
              <a:alpha val="10000"/>
            </a:srgbClr>
          </a:solidFill>
          <a:ln/>
        </p:spPr>
      </p:sp>
      <p:sp>
        <p:nvSpPr>
          <p:cNvPr id="15" name="Text 11"/>
          <p:cNvSpPr/>
          <p:nvPr/>
        </p:nvSpPr>
        <p:spPr>
          <a:xfrm>
            <a:off x="5294579" y="871538"/>
            <a:ext cx="3635108" cy="385763"/>
          </a:xfrm>
          <a:prstGeom prst="rect">
            <a:avLst/>
          </a:prstGeom>
          <a:noFill/>
          <a:ln/>
        </p:spPr>
        <p:txBody>
          <a:bodyPr wrap="square" lIns="255143" tIns="127508" rIns="255143" bIns="127508" rtlCol="0" anchor="ctr">
            <a:spAutoFit/>
          </a:bodyPr>
          <a:lstStyle/>
          <a:p>
            <a:pPr algn="l" indent="0" marL="0">
              <a:buNone/>
            </a:pPr>
            <a:r>
              <a:rPr lang="en-US" sz="900" b="1" dirty="0">
                <a:solidFill>
                  <a:srgbClr val="FF6B35"/>
                </a:solidFill>
                <a:latin typeface="Roboto Mono Bold" pitchFamily="34" charset="0"/>
                <a:ea typeface="Roboto Mono Bold" pitchFamily="34" charset="-122"/>
                <a:cs typeface="Roboto Mono Bold" pitchFamily="34" charset="-120"/>
              </a:rPr>
              <a:t>WEAK ENTITY</a:t>
            </a:r>
            <a:endParaRPr lang="en-US" sz="900" dirty="0"/>
          </a:p>
        </p:txBody>
      </p:sp>
      <p:sp>
        <p:nvSpPr>
          <p:cNvPr id="16" name="Text 12"/>
          <p:cNvSpPr/>
          <p:nvPr/>
        </p:nvSpPr>
        <p:spPr>
          <a:xfrm>
            <a:off x="428625" y="1371600"/>
            <a:ext cx="778669"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Primary Key</a:t>
            </a:r>
            <a:endParaRPr lang="en-US" sz="900" dirty="0"/>
          </a:p>
        </p:txBody>
      </p:sp>
      <p:sp>
        <p:nvSpPr>
          <p:cNvPr id="17" name="Text 13"/>
          <p:cNvSpPr/>
          <p:nvPr/>
        </p:nvSpPr>
        <p:spPr>
          <a:xfrm>
            <a:off x="2397844" y="1257300"/>
            <a:ext cx="2896735"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Has its own full key</a:t>
            </a:r>
            <a:endParaRPr lang="en-US" sz="950" dirty="0"/>
          </a:p>
        </p:txBody>
      </p:sp>
      <p:sp>
        <p:nvSpPr>
          <p:cNvPr id="18" name="Text 14"/>
          <p:cNvSpPr/>
          <p:nvPr/>
        </p:nvSpPr>
        <p:spPr>
          <a:xfrm>
            <a:off x="5294579" y="1257300"/>
            <a:ext cx="3635108"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Uses a partial key</a:t>
            </a:r>
            <a:endParaRPr lang="en-US" sz="950" dirty="0"/>
          </a:p>
        </p:txBody>
      </p:sp>
      <p:sp>
        <p:nvSpPr>
          <p:cNvPr id="19" name="Text 15"/>
          <p:cNvSpPr/>
          <p:nvPr/>
        </p:nvSpPr>
        <p:spPr>
          <a:xfrm>
            <a:off x="428625" y="1782366"/>
            <a:ext cx="814388"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Dependency</a:t>
            </a:r>
            <a:endParaRPr lang="en-US" sz="900" dirty="0"/>
          </a:p>
        </p:txBody>
      </p:sp>
      <p:sp>
        <p:nvSpPr>
          <p:cNvPr id="20" name="Text 16"/>
          <p:cNvSpPr/>
          <p:nvPr/>
        </p:nvSpPr>
        <p:spPr>
          <a:xfrm>
            <a:off x="2397844" y="1668066"/>
            <a:ext cx="2896735"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Independent</a:t>
            </a:r>
            <a:endParaRPr lang="en-US" sz="950" dirty="0"/>
          </a:p>
        </p:txBody>
      </p:sp>
      <p:sp>
        <p:nvSpPr>
          <p:cNvPr id="21" name="Text 17"/>
          <p:cNvSpPr/>
          <p:nvPr/>
        </p:nvSpPr>
        <p:spPr>
          <a:xfrm>
            <a:off x="5294579" y="1668066"/>
            <a:ext cx="3635108"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Depends on Strong Entity</a:t>
            </a:r>
            <a:endParaRPr lang="en-US" sz="950" dirty="0"/>
          </a:p>
        </p:txBody>
      </p:sp>
      <p:sp>
        <p:nvSpPr>
          <p:cNvPr id="22" name="Text 18"/>
          <p:cNvSpPr/>
          <p:nvPr/>
        </p:nvSpPr>
        <p:spPr>
          <a:xfrm>
            <a:off x="428625" y="2193131"/>
            <a:ext cx="489347"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Symbol</a:t>
            </a:r>
            <a:endParaRPr lang="en-US" sz="900" dirty="0"/>
          </a:p>
        </p:txBody>
      </p:sp>
      <p:sp>
        <p:nvSpPr>
          <p:cNvPr id="23" name="Text 19"/>
          <p:cNvSpPr/>
          <p:nvPr/>
        </p:nvSpPr>
        <p:spPr>
          <a:xfrm>
            <a:off x="2397844" y="2078831"/>
            <a:ext cx="2896735"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Single Rectangle</a:t>
            </a:r>
            <a:endParaRPr lang="en-US" sz="950" dirty="0"/>
          </a:p>
        </p:txBody>
      </p:sp>
      <p:sp>
        <p:nvSpPr>
          <p:cNvPr id="24" name="Text 20"/>
          <p:cNvSpPr/>
          <p:nvPr/>
        </p:nvSpPr>
        <p:spPr>
          <a:xfrm>
            <a:off x="5294579" y="2078831"/>
            <a:ext cx="3635108" cy="410766"/>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Double Rectangle</a:t>
            </a:r>
            <a:endParaRPr lang="en-US" sz="950" dirty="0"/>
          </a:p>
        </p:txBody>
      </p:sp>
      <p:sp>
        <p:nvSpPr>
          <p:cNvPr id="25" name="Text 21"/>
          <p:cNvSpPr/>
          <p:nvPr/>
        </p:nvSpPr>
        <p:spPr>
          <a:xfrm>
            <a:off x="428625" y="2603897"/>
            <a:ext cx="553641" cy="182166"/>
          </a:xfrm>
          <a:prstGeom prst="rect">
            <a:avLst/>
          </a:prstGeom>
          <a:noFill/>
          <a:ln/>
        </p:spPr>
        <p:txBody>
          <a:bodyPr wrap="none" lIns="0" tIns="0" rIns="0" bIns="0" rtlCol="0" anchor="t">
            <a:spAutoFit/>
          </a:bodyPr>
          <a:lstStyle/>
          <a:p>
            <a:pPr algn="l" indent="0" marL="0">
              <a:buNone/>
            </a:pPr>
            <a:r>
              <a:rPr lang="en-US" sz="900" b="1" dirty="0">
                <a:solidFill>
                  <a:srgbClr val="0A192F"/>
                </a:solidFill>
                <a:latin typeface="Poppins SemiBold" pitchFamily="34" charset="0"/>
                <a:ea typeface="Poppins SemiBold" pitchFamily="34" charset="-122"/>
                <a:cs typeface="Poppins SemiBold" pitchFamily="34" charset="-120"/>
              </a:rPr>
              <a:t>Example</a:t>
            </a:r>
            <a:endParaRPr lang="en-US" sz="900" dirty="0"/>
          </a:p>
        </p:txBody>
      </p:sp>
      <p:sp>
        <p:nvSpPr>
          <p:cNvPr id="26" name="Text 22"/>
          <p:cNvSpPr/>
          <p:nvPr/>
        </p:nvSpPr>
        <p:spPr>
          <a:xfrm>
            <a:off x="2397844" y="2489597"/>
            <a:ext cx="2896735" cy="414338"/>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University</a:t>
            </a:r>
            <a:endParaRPr lang="en-US" sz="950" dirty="0"/>
          </a:p>
        </p:txBody>
      </p:sp>
      <p:sp>
        <p:nvSpPr>
          <p:cNvPr id="27" name="Text 23"/>
          <p:cNvSpPr/>
          <p:nvPr/>
        </p:nvSpPr>
        <p:spPr>
          <a:xfrm>
            <a:off x="5294579" y="2489597"/>
            <a:ext cx="3635108" cy="414338"/>
          </a:xfrm>
          <a:prstGeom prst="rect">
            <a:avLst/>
          </a:prstGeom>
          <a:noFill/>
          <a:ln/>
        </p:spPr>
        <p:txBody>
          <a:bodyPr wrap="square" lIns="255143" tIns="127508" rIns="255143" bIns="127508" rtlCol="0" anchor="ctr">
            <a:spAutoFit/>
          </a:bodyPr>
          <a:lstStyle/>
          <a:p>
            <a:pPr algn="l" indent="0" marL="0">
              <a:buNone/>
            </a:pPr>
            <a:r>
              <a:rPr lang="en-US" sz="950" dirty="0">
                <a:solidFill>
                  <a:srgbClr val="0A192F"/>
                </a:solidFill>
                <a:latin typeface="Poppins" pitchFamily="34" charset="0"/>
                <a:ea typeface="Poppins" pitchFamily="34" charset="-122"/>
                <a:cs typeface="Poppins" pitchFamily="34" charset="-120"/>
              </a:rPr>
              <a:t>Department</a:t>
            </a:r>
            <a:endParaRPr lang="en-US" sz="950" dirty="0"/>
          </a:p>
        </p:txBody>
      </p:sp>
      <p:sp>
        <p:nvSpPr>
          <p:cNvPr id="28" name="Shape 24"/>
          <p:cNvSpPr/>
          <p:nvPr/>
        </p:nvSpPr>
        <p:spPr>
          <a:xfrm>
            <a:off x="214313" y="2907506"/>
            <a:ext cx="8715375" cy="2021681"/>
          </a:xfrm>
          <a:prstGeom prst="rect">
            <a:avLst/>
          </a:prstGeom>
          <a:solidFill>
            <a:srgbClr val="FFFFFF"/>
          </a:solidFill>
          <a:ln/>
        </p:spPr>
      </p:sp>
      <p:sp>
        <p:nvSpPr>
          <p:cNvPr id="29" name="Text 25"/>
          <p:cNvSpPr/>
          <p:nvPr/>
        </p:nvSpPr>
        <p:spPr>
          <a:xfrm>
            <a:off x="3864769" y="3471863"/>
            <a:ext cx="1414463" cy="171450"/>
          </a:xfrm>
          <a:prstGeom prst="rect">
            <a:avLst/>
          </a:prstGeom>
          <a:noFill/>
          <a:ln/>
        </p:spPr>
        <p:txBody>
          <a:bodyPr wrap="square" lIns="0" tIns="0" rIns="0" bIns="0" rtlCol="0" anchor="t">
            <a:spAutoFit/>
          </a:bodyPr>
          <a:lstStyle/>
          <a:p>
            <a:pPr algn="l" indent="0" marL="0">
              <a:buNone/>
            </a:pPr>
            <a:r>
              <a:rPr lang="en-US" sz="900" b="1" dirty="0">
                <a:solidFill>
                  <a:srgbClr val="0056B3"/>
                </a:solidFill>
                <a:latin typeface="Roboto Mono Bold" pitchFamily="34" charset="0"/>
                <a:ea typeface="Roboto Mono Bold" pitchFamily="34" charset="-122"/>
                <a:cs typeface="Roboto Mono Bold" pitchFamily="34" charset="-120"/>
              </a:rPr>
              <a:t>REAL-WORLD EXAMPLE</a:t>
            </a:r>
            <a:endParaRPr lang="en-US" sz="900" dirty="0"/>
          </a:p>
        </p:txBody>
      </p:sp>
      <p:sp>
        <p:nvSpPr>
          <p:cNvPr id="30" name="Shape 26"/>
          <p:cNvSpPr/>
          <p:nvPr/>
        </p:nvSpPr>
        <p:spPr>
          <a:xfrm>
            <a:off x="2214563" y="3821906"/>
            <a:ext cx="1143000" cy="357188"/>
          </a:xfrm>
          <a:prstGeom prst="rect">
            <a:avLst/>
          </a:prstGeom>
          <a:solidFill>
            <a:srgbClr val="ADD8E6"/>
          </a:solidFill>
          <a:ln w="9144">
            <a:solidFill>
              <a:srgbClr val="0A192F"/>
            </a:solidFill>
            <a:prstDash val="solid"/>
          </a:ln>
        </p:spPr>
      </p:sp>
      <p:sp>
        <p:nvSpPr>
          <p:cNvPr id="31" name="Text 27"/>
          <p:cNvSpPr/>
          <p:nvPr/>
        </p:nvSpPr>
        <p:spPr>
          <a:xfrm>
            <a:off x="2214563" y="3821906"/>
            <a:ext cx="1143000" cy="357188"/>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UNIVERSITY</a:t>
            </a:r>
            <a:endParaRPr lang="en-US" sz="700" dirty="0"/>
          </a:p>
        </p:txBody>
      </p:sp>
      <p:sp>
        <p:nvSpPr>
          <p:cNvPr id="32" name="Shape 28"/>
          <p:cNvSpPr/>
          <p:nvPr/>
        </p:nvSpPr>
        <p:spPr>
          <a:xfrm rot="2700000">
            <a:off x="4357688" y="3786188"/>
            <a:ext cx="428625" cy="428625"/>
          </a:xfrm>
          <a:prstGeom prst="rect">
            <a:avLst/>
          </a:prstGeom>
          <a:solidFill>
            <a:srgbClr val="FFFFFF"/>
          </a:solidFill>
          <a:ln w="27432">
            <a:solidFill>
              <a:srgbClr val="0A192F"/>
            </a:solidFill>
            <a:prstDash val="solid"/>
          </a:ln>
        </p:spPr>
      </p:sp>
      <p:sp>
        <p:nvSpPr>
          <p:cNvPr id="33" name="Text 29"/>
          <p:cNvSpPr/>
          <p:nvPr/>
        </p:nvSpPr>
        <p:spPr>
          <a:xfrm>
            <a:off x="4500563" y="3946922"/>
            <a:ext cx="142875" cy="107156"/>
          </a:xfrm>
          <a:prstGeom prst="rect">
            <a:avLst/>
          </a:prstGeom>
          <a:noFill/>
          <a:ln/>
        </p:spPr>
        <p:txBody>
          <a:bodyPr wrap="none" lIns="0" tIns="0" rIns="0" bIns="0" rtlCol="0" anchor="t">
            <a:spAutoFit/>
          </a:bodyPr>
          <a:lstStyle/>
          <a:p>
            <a:pPr algn="l" indent="0" marL="0">
              <a:buNone/>
            </a:pPr>
            <a:r>
              <a:rPr lang="en-US" sz="500" b="1" dirty="0">
                <a:solidFill>
                  <a:srgbClr val="0A192F"/>
                </a:solidFill>
                <a:latin typeface="Poppins SemiBold" pitchFamily="34" charset="0"/>
                <a:ea typeface="Poppins SemiBold" pitchFamily="34" charset="-122"/>
                <a:cs typeface="Poppins SemiBold" pitchFamily="34" charset="-120"/>
              </a:rPr>
              <a:t>HAS</a:t>
            </a:r>
            <a:endParaRPr lang="en-US" sz="500" dirty="0"/>
          </a:p>
        </p:txBody>
      </p:sp>
      <p:sp>
        <p:nvSpPr>
          <p:cNvPr id="34" name="Shape 30"/>
          <p:cNvSpPr/>
          <p:nvPr/>
        </p:nvSpPr>
        <p:spPr>
          <a:xfrm>
            <a:off x="5786438" y="3821906"/>
            <a:ext cx="1143000" cy="357188"/>
          </a:xfrm>
          <a:prstGeom prst="rect">
            <a:avLst/>
          </a:prstGeom>
          <a:solidFill>
            <a:srgbClr val="FFDAB9"/>
          </a:solidFill>
          <a:ln w="27432">
            <a:solidFill>
              <a:srgbClr val="0A192F"/>
            </a:solidFill>
            <a:prstDash val="solid"/>
          </a:ln>
        </p:spPr>
      </p:sp>
      <p:sp>
        <p:nvSpPr>
          <p:cNvPr id="35" name="Text 31"/>
          <p:cNvSpPr/>
          <p:nvPr/>
        </p:nvSpPr>
        <p:spPr>
          <a:xfrm>
            <a:off x="5786438" y="3821906"/>
            <a:ext cx="1143000" cy="357188"/>
          </a:xfrm>
          <a:prstGeom prst="rect">
            <a:avLst/>
          </a:prstGeom>
          <a:noFill/>
          <a:ln/>
        </p:spPr>
        <p:txBody>
          <a:bodyPr wrap="none" lIns="0" tIns="0" rIns="0" bIns="0" rtlCol="0" anchor="ctr">
            <a:spAutoFit/>
          </a:bodyPr>
          <a:lstStyle/>
          <a:p>
            <a:pPr algn="ctr" indent="0" marL="0">
              <a:buNone/>
            </a:pPr>
            <a:r>
              <a:rPr lang="en-US" sz="700" b="1" dirty="0">
                <a:solidFill>
                  <a:srgbClr val="0A192F"/>
                </a:solidFill>
                <a:latin typeface="Poppins SemiBold" pitchFamily="34" charset="0"/>
                <a:ea typeface="Poppins SemiBold" pitchFamily="34" charset="-122"/>
                <a:cs typeface="Poppins SemiBold" pitchFamily="34" charset="-120"/>
              </a:rPr>
              <a:t>DEPARTMENT</a:t>
            </a:r>
            <a:endParaRPr lang="en-US" sz="700" dirty="0"/>
          </a:p>
        </p:txBody>
      </p:sp>
      <p:sp>
        <p:nvSpPr>
          <p:cNvPr id="36" name="Text 32"/>
          <p:cNvSpPr/>
          <p:nvPr/>
        </p:nvSpPr>
        <p:spPr>
          <a:xfrm>
            <a:off x="3261122" y="4357688"/>
            <a:ext cx="2621756" cy="150019"/>
          </a:xfrm>
          <a:prstGeom prst="rect">
            <a:avLst/>
          </a:prstGeom>
          <a:noFill/>
          <a:ln/>
        </p:spPr>
        <p:txBody>
          <a:bodyPr wrap="square" lIns="0" tIns="0" rIns="0" bIns="0" rtlCol="0" anchor="t">
            <a:spAutoFit/>
          </a:bodyPr>
          <a:lstStyle/>
          <a:p>
            <a:pPr algn="l" indent="0" marL="0">
              <a:buNone/>
            </a:pPr>
            <a:r>
              <a:rPr lang="en-US" sz="750" dirty="0">
                <a:solidFill>
                  <a:srgbClr val="666666"/>
                </a:solidFill>
                <a:latin typeface="Poppins" pitchFamily="34" charset="0"/>
                <a:ea typeface="Poppins" pitchFamily="34" charset="-122"/>
                <a:cs typeface="Poppins" pitchFamily="34" charset="-120"/>
              </a:rPr>
              <a:t>*The Department cannot exist without the University.</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285750"/>
            <a:ext cx="8572500" cy="4572000"/>
          </a:xfrm>
          <a:prstGeom prst="rect">
            <a:avLst/>
          </a:prstGeom>
          <a:solidFill>
            <a:srgbClr val="FFFFFF"/>
          </a:solidFill>
          <a:ln w="9144">
            <a:solidFill>
              <a:srgbClr val="0A192F"/>
            </a:solidFill>
            <a:prstDash val="solid"/>
          </a:ln>
        </p:spPr>
      </p:sp>
      <p:sp>
        <p:nvSpPr>
          <p:cNvPr id="5" name="Shape 1"/>
          <p:cNvSpPr/>
          <p:nvPr/>
        </p:nvSpPr>
        <p:spPr>
          <a:xfrm>
            <a:off x="285750" y="285750"/>
            <a:ext cx="8572500" cy="1032272"/>
          </a:xfrm>
          <a:prstGeom prst="rect">
            <a:avLst/>
          </a:prstGeom>
          <a:solidFill>
            <a:srgbClr val="0056B3">
              <a:alpha val="5000"/>
            </a:srgbClr>
          </a:solidFill>
          <a:ln/>
        </p:spPr>
      </p:sp>
      <p:sp>
        <p:nvSpPr>
          <p:cNvPr id="6" name="Shape 2"/>
          <p:cNvSpPr/>
          <p:nvPr/>
        </p:nvSpPr>
        <p:spPr>
          <a:xfrm>
            <a:off x="285750" y="1310878"/>
            <a:ext cx="8572500" cy="7144"/>
          </a:xfrm>
          <a:prstGeom prst="rect">
            <a:avLst/>
          </a:prstGeom>
          <a:solidFill>
            <a:srgbClr val="0A192F"/>
          </a:solidFill>
          <a:ln/>
        </p:spPr>
      </p:sp>
      <p:sp>
        <p:nvSpPr>
          <p:cNvPr id="7" name="Text 3"/>
          <p:cNvSpPr/>
          <p:nvPr/>
        </p:nvSpPr>
        <p:spPr>
          <a:xfrm>
            <a:off x="571500" y="571500"/>
            <a:ext cx="8001000" cy="453628"/>
          </a:xfrm>
          <a:prstGeom prst="rect">
            <a:avLst/>
          </a:prstGeom>
          <a:noFill/>
          <a:ln/>
        </p:spPr>
        <p:txBody>
          <a:bodyPr wrap="square" lIns="0" tIns="0" rIns="0" bIns="0" rtlCol="0" anchor="t">
            <a:spAutoFit/>
          </a:bodyPr>
          <a:lstStyle/>
          <a:p>
            <a:pPr algn="ctr" indent="0" marL="0">
              <a:buNone/>
            </a:pPr>
            <a:r>
              <a:rPr lang="en-US" sz="2450" b="1" dirty="0">
                <a:solidFill>
                  <a:srgbClr val="0056B3"/>
                </a:solidFill>
                <a:latin typeface="Roboto Mono Bold" pitchFamily="34" charset="0"/>
                <a:ea typeface="Roboto Mono Bold" pitchFamily="34" charset="-122"/>
                <a:cs typeface="Roboto Mono Bold" pitchFamily="34" charset="-120"/>
              </a:rPr>
              <a:t>CONCLUSION AND SUMMARY</a:t>
            </a:r>
            <a:endParaRPr lang="en-US" sz="2450" dirty="0"/>
          </a:p>
        </p:txBody>
      </p:sp>
      <p:pic>
        <p:nvPicPr>
          <p:cNvPr id="8" name="Image 1" descr="preencoded.png">    </p:cNvPr>
          <p:cNvPicPr>
            <a:picLocks noChangeAspect="1"/>
          </p:cNvPicPr>
          <p:nvPr/>
        </p:nvPicPr>
        <p:blipFill>
          <a:blip r:embed="rId2"/>
          <a:stretch>
            <a:fillRect/>
          </a:stretch>
        </p:blipFill>
        <p:spPr>
          <a:xfrm>
            <a:off x="714375" y="2184202"/>
            <a:ext cx="214313" cy="157163"/>
          </a:xfrm>
          <a:prstGeom prst="rect">
            <a:avLst/>
          </a:prstGeom>
        </p:spPr>
      </p:pic>
      <p:sp>
        <p:nvSpPr>
          <p:cNvPr id="9" name="Text 4"/>
          <p:cNvSpPr/>
          <p:nvPr/>
        </p:nvSpPr>
        <p:spPr>
          <a:xfrm>
            <a:off x="1071563" y="2146697"/>
            <a:ext cx="2189559" cy="232172"/>
          </a:xfrm>
          <a:prstGeom prst="rect">
            <a:avLst/>
          </a:prstGeom>
          <a:noFill/>
          <a:ln/>
        </p:spPr>
        <p:txBody>
          <a:bodyPr wrap="square" lIns="0" tIns="0" rIns="0" bIns="0" rtlCol="0" anchor="t">
            <a:spAutoFit/>
          </a:bodyPr>
          <a:lstStyle/>
          <a:p>
            <a:pPr algn="l" indent="0" marL="0">
              <a:buNone/>
            </a:pPr>
            <a:r>
              <a:rPr lang="en-US" sz="1150" dirty="0">
                <a:solidFill>
                  <a:srgbClr val="0A192F"/>
                </a:solidFill>
                <a:latin typeface="Poppins" pitchFamily="34" charset="0"/>
                <a:ea typeface="Poppins" pitchFamily="34" charset="-122"/>
                <a:cs typeface="Poppins" pitchFamily="34" charset="-120"/>
              </a:rPr>
              <a:t>ER &amp; EER Models for Planning</a:t>
            </a:r>
            <a:endParaRPr lang="en-US" sz="1150" dirty="0"/>
          </a:p>
        </p:txBody>
      </p:sp>
      <p:pic>
        <p:nvPicPr>
          <p:cNvPr id="10" name="Image 2" descr="preencoded.png">    </p:cNvPr>
          <p:cNvPicPr>
            <a:picLocks noChangeAspect="1"/>
          </p:cNvPicPr>
          <p:nvPr/>
        </p:nvPicPr>
        <p:blipFill>
          <a:blip r:embed="rId3"/>
          <a:stretch>
            <a:fillRect/>
          </a:stretch>
        </p:blipFill>
        <p:spPr>
          <a:xfrm>
            <a:off x="714375" y="2559248"/>
            <a:ext cx="214313" cy="157163"/>
          </a:xfrm>
          <a:prstGeom prst="rect">
            <a:avLst/>
          </a:prstGeom>
        </p:spPr>
      </p:pic>
      <p:sp>
        <p:nvSpPr>
          <p:cNvPr id="11" name="Text 5"/>
          <p:cNvSpPr/>
          <p:nvPr/>
        </p:nvSpPr>
        <p:spPr>
          <a:xfrm>
            <a:off x="1071563" y="2521744"/>
            <a:ext cx="2703909" cy="232172"/>
          </a:xfrm>
          <a:prstGeom prst="rect">
            <a:avLst/>
          </a:prstGeom>
          <a:noFill/>
          <a:ln/>
        </p:spPr>
        <p:txBody>
          <a:bodyPr wrap="square" lIns="0" tIns="0" rIns="0" bIns="0" rtlCol="0" anchor="t">
            <a:spAutoFit/>
          </a:bodyPr>
          <a:lstStyle/>
          <a:p>
            <a:pPr algn="l" indent="0" marL="0">
              <a:buNone/>
            </a:pPr>
            <a:r>
              <a:rPr lang="en-US" sz="1150" dirty="0">
                <a:solidFill>
                  <a:srgbClr val="0A192F"/>
                </a:solidFill>
                <a:latin typeface="Poppins" pitchFamily="34" charset="0"/>
                <a:ea typeface="Poppins" pitchFamily="34" charset="-122"/>
                <a:cs typeface="Poppins" pitchFamily="34" charset="-120"/>
              </a:rPr>
              <a:t>Data Independence &amp; Architecture</a:t>
            </a:r>
            <a:endParaRPr lang="en-US" sz="1150" dirty="0"/>
          </a:p>
        </p:txBody>
      </p:sp>
      <p:pic>
        <p:nvPicPr>
          <p:cNvPr id="12" name="Image 3" descr="preencoded.png">    </p:cNvPr>
          <p:cNvPicPr>
            <a:picLocks noChangeAspect="1"/>
          </p:cNvPicPr>
          <p:nvPr/>
        </p:nvPicPr>
        <p:blipFill>
          <a:blip r:embed="rId4"/>
          <a:stretch>
            <a:fillRect/>
          </a:stretch>
        </p:blipFill>
        <p:spPr>
          <a:xfrm>
            <a:off x="714375" y="2934295"/>
            <a:ext cx="214313" cy="157163"/>
          </a:xfrm>
          <a:prstGeom prst="rect">
            <a:avLst/>
          </a:prstGeom>
        </p:spPr>
      </p:pic>
      <p:sp>
        <p:nvSpPr>
          <p:cNvPr id="13" name="Text 6"/>
          <p:cNvSpPr/>
          <p:nvPr/>
        </p:nvSpPr>
        <p:spPr>
          <a:xfrm>
            <a:off x="1071563" y="2896791"/>
            <a:ext cx="2636044" cy="232172"/>
          </a:xfrm>
          <a:prstGeom prst="rect">
            <a:avLst/>
          </a:prstGeom>
          <a:noFill/>
          <a:ln/>
        </p:spPr>
        <p:txBody>
          <a:bodyPr wrap="square" lIns="0" tIns="0" rIns="0" bIns="0" rtlCol="0" anchor="t">
            <a:spAutoFit/>
          </a:bodyPr>
          <a:lstStyle/>
          <a:p>
            <a:pPr algn="l" indent="0" marL="0">
              <a:buNone/>
            </a:pPr>
            <a:r>
              <a:rPr lang="en-US" sz="1150" dirty="0">
                <a:solidFill>
                  <a:srgbClr val="0A192F"/>
                </a:solidFill>
                <a:latin typeface="Poppins" pitchFamily="34" charset="0"/>
                <a:ea typeface="Poppins" pitchFamily="34" charset="-122"/>
                <a:cs typeface="Poppins" pitchFamily="34" charset="-120"/>
              </a:rPr>
              <a:t>Core DBMS Software Components</a:t>
            </a:r>
            <a:endParaRPr lang="en-US" sz="1150" dirty="0"/>
          </a:p>
        </p:txBody>
      </p:sp>
      <p:pic>
        <p:nvPicPr>
          <p:cNvPr id="14" name="Image 4" descr="preencoded.png">    </p:cNvPr>
          <p:cNvPicPr>
            <a:picLocks noChangeAspect="1"/>
          </p:cNvPicPr>
          <p:nvPr/>
        </p:nvPicPr>
        <p:blipFill>
          <a:blip r:embed="rId5"/>
          <a:stretch>
            <a:fillRect/>
          </a:stretch>
        </p:blipFill>
        <p:spPr>
          <a:xfrm>
            <a:off x="714375" y="3309342"/>
            <a:ext cx="214313" cy="157163"/>
          </a:xfrm>
          <a:prstGeom prst="rect">
            <a:avLst/>
          </a:prstGeom>
        </p:spPr>
      </p:pic>
      <p:sp>
        <p:nvSpPr>
          <p:cNvPr id="15" name="Text 7"/>
          <p:cNvSpPr/>
          <p:nvPr/>
        </p:nvSpPr>
        <p:spPr>
          <a:xfrm>
            <a:off x="1071563" y="3271838"/>
            <a:ext cx="2232422" cy="232172"/>
          </a:xfrm>
          <a:prstGeom prst="rect">
            <a:avLst/>
          </a:prstGeom>
          <a:noFill/>
          <a:ln/>
        </p:spPr>
        <p:txBody>
          <a:bodyPr wrap="square" lIns="0" tIns="0" rIns="0" bIns="0" rtlCol="0" anchor="t">
            <a:spAutoFit/>
          </a:bodyPr>
          <a:lstStyle/>
          <a:p>
            <a:pPr algn="l" indent="0" marL="0">
              <a:buNone/>
            </a:pPr>
            <a:r>
              <a:rPr lang="en-US" sz="1150" dirty="0">
                <a:solidFill>
                  <a:srgbClr val="0A192F"/>
                </a:solidFill>
                <a:latin typeface="Poppins" pitchFamily="34" charset="0"/>
                <a:ea typeface="Poppins" pitchFamily="34" charset="-122"/>
                <a:cs typeface="Poppins" pitchFamily="34" charset="-120"/>
              </a:rPr>
              <a:t>Strong vs Weak Entity Design</a:t>
            </a:r>
            <a:endParaRPr lang="en-US" sz="1150" dirty="0"/>
          </a:p>
        </p:txBody>
      </p:sp>
      <p:pic>
        <p:nvPicPr>
          <p:cNvPr id="16" name="Image 5" descr="preencoded.png">    </p:cNvPr>
          <p:cNvPicPr>
            <a:picLocks noChangeAspect="1"/>
          </p:cNvPicPr>
          <p:nvPr/>
        </p:nvPicPr>
        <p:blipFill>
          <a:blip r:embed="rId6"/>
          <a:stretch>
            <a:fillRect/>
          </a:stretch>
        </p:blipFill>
        <p:spPr>
          <a:xfrm>
            <a:off x="714375" y="3684389"/>
            <a:ext cx="214313" cy="157163"/>
          </a:xfrm>
          <a:prstGeom prst="rect">
            <a:avLst/>
          </a:prstGeom>
        </p:spPr>
      </p:pic>
      <p:sp>
        <p:nvSpPr>
          <p:cNvPr id="17" name="Text 8"/>
          <p:cNvSpPr/>
          <p:nvPr/>
        </p:nvSpPr>
        <p:spPr>
          <a:xfrm>
            <a:off x="1071563" y="3646884"/>
            <a:ext cx="2146697" cy="232172"/>
          </a:xfrm>
          <a:prstGeom prst="rect">
            <a:avLst/>
          </a:prstGeom>
          <a:noFill/>
          <a:ln/>
        </p:spPr>
        <p:txBody>
          <a:bodyPr wrap="square" lIns="0" tIns="0" rIns="0" bIns="0" rtlCol="0" anchor="t">
            <a:spAutoFit/>
          </a:bodyPr>
          <a:lstStyle/>
          <a:p>
            <a:pPr algn="l" indent="0" marL="0">
              <a:buNone/>
            </a:pPr>
            <a:r>
              <a:rPr lang="en-US" sz="1150" dirty="0">
                <a:solidFill>
                  <a:srgbClr val="0A192F"/>
                </a:solidFill>
                <a:latin typeface="Poppins" pitchFamily="34" charset="0"/>
                <a:ea typeface="Poppins" pitchFamily="34" charset="-122"/>
                <a:cs typeface="Poppins" pitchFamily="34" charset="-120"/>
              </a:rPr>
              <a:t>Building Efficient Databases</a:t>
            </a:r>
            <a:endParaRPr lang="en-US" sz="1150" dirty="0"/>
          </a:p>
        </p:txBody>
      </p:sp>
      <p:pic>
        <p:nvPicPr>
          <p:cNvPr id="18" name="Image 6" descr="preencoded.png">    </p:cNvPr>
          <p:cNvPicPr>
            <a:picLocks noChangeAspect="1"/>
          </p:cNvPicPr>
          <p:nvPr/>
        </p:nvPicPr>
        <p:blipFill>
          <a:blip r:embed="rId7"/>
          <a:stretch>
            <a:fillRect/>
          </a:stretch>
        </p:blipFill>
        <p:spPr>
          <a:xfrm>
            <a:off x="6125766" y="1844873"/>
            <a:ext cx="428625" cy="428625"/>
          </a:xfrm>
          <a:prstGeom prst="rect">
            <a:avLst/>
          </a:prstGeom>
        </p:spPr>
      </p:pic>
      <p:pic>
        <p:nvPicPr>
          <p:cNvPr id="19" name="Image 7" descr="preencoded.png">    </p:cNvPr>
          <p:cNvPicPr>
            <a:picLocks noChangeAspect="1"/>
          </p:cNvPicPr>
          <p:nvPr/>
        </p:nvPicPr>
        <p:blipFill>
          <a:blip r:embed="rId8"/>
          <a:stretch>
            <a:fillRect/>
          </a:stretch>
        </p:blipFill>
        <p:spPr>
          <a:xfrm>
            <a:off x="6768703" y="1844873"/>
            <a:ext cx="535781" cy="428625"/>
          </a:xfrm>
          <a:prstGeom prst="rect">
            <a:avLst/>
          </a:prstGeom>
        </p:spPr>
      </p:pic>
      <p:sp>
        <p:nvSpPr>
          <p:cNvPr id="20" name="Text 9"/>
          <p:cNvSpPr/>
          <p:nvPr/>
        </p:nvSpPr>
        <p:spPr>
          <a:xfrm>
            <a:off x="5638205" y="2487811"/>
            <a:ext cx="2153841" cy="525066"/>
          </a:xfrm>
          <a:prstGeom prst="rect">
            <a:avLst/>
          </a:prstGeom>
          <a:noFill/>
          <a:ln/>
        </p:spPr>
        <p:txBody>
          <a:bodyPr wrap="square" lIns="0" tIns="0" rIns="0" bIns="0" rtlCol="0" anchor="t">
            <a:spAutoFit/>
          </a:bodyPr>
          <a:lstStyle/>
          <a:p>
            <a:pPr algn="ctr" indent="0" marL="0">
              <a:buNone/>
            </a:pPr>
            <a:r>
              <a:rPr lang="en-US" sz="3050" dirty="0">
                <a:solidFill>
                  <a:srgbClr val="0056B3"/>
                </a:solidFill>
                <a:latin typeface="Roboto Mono Bold" pitchFamily="34" charset="0"/>
                <a:ea typeface="Roboto Mono Bold" pitchFamily="34" charset="-122"/>
                <a:cs typeface="Roboto Mono Bold" pitchFamily="34" charset="-120"/>
              </a:rPr>
              <a:t>THANK YOU</a:t>
            </a:r>
            <a:endParaRPr lang="en-US" sz="3050" dirty="0"/>
          </a:p>
        </p:txBody>
      </p:sp>
      <p:sp>
        <p:nvSpPr>
          <p:cNvPr id="21" name="Text 10"/>
          <p:cNvSpPr/>
          <p:nvPr/>
        </p:nvSpPr>
        <p:spPr>
          <a:xfrm>
            <a:off x="5920383" y="3155752"/>
            <a:ext cx="1589484" cy="303609"/>
          </a:xfrm>
          <a:prstGeom prst="rect">
            <a:avLst/>
          </a:prstGeom>
          <a:noFill/>
          <a:ln/>
        </p:spPr>
        <p:txBody>
          <a:bodyPr wrap="square" lIns="0" tIns="0" rIns="0" bIns="0" rtlCol="0" anchor="t">
            <a:spAutoFit/>
          </a:bodyPr>
          <a:lstStyle/>
          <a:p>
            <a:pPr algn="ctr" indent="0" marL="0">
              <a:buNone/>
            </a:pPr>
            <a:r>
              <a:rPr lang="en-US" sz="1400" b="1" dirty="0">
                <a:solidFill>
                  <a:srgbClr val="FF6B35"/>
                </a:solidFill>
                <a:latin typeface="Poppins SemiBold" pitchFamily="34" charset="0"/>
                <a:ea typeface="Poppins SemiBold" pitchFamily="34" charset="-122"/>
                <a:cs typeface="Poppins SemiBold" pitchFamily="34" charset="-120"/>
              </a:rPr>
              <a:t>Any Questions?</a:t>
            </a:r>
            <a:endParaRPr lang="en-US" sz="1400" dirty="0"/>
          </a:p>
        </p:txBody>
      </p:sp>
      <p:sp>
        <p:nvSpPr>
          <p:cNvPr id="22" name="Text 11"/>
          <p:cNvSpPr/>
          <p:nvPr/>
        </p:nvSpPr>
        <p:spPr>
          <a:xfrm>
            <a:off x="5229225" y="3745111"/>
            <a:ext cx="2971800" cy="578644"/>
          </a:xfrm>
          <a:prstGeom prst="rect">
            <a:avLst/>
          </a:prstGeom>
          <a:noFill/>
          <a:ln/>
        </p:spPr>
        <p:txBody>
          <a:bodyPr wrap="square" lIns="0" tIns="170053" rIns="0" bIns="0" rtlCol="0" anchor="t">
            <a:spAutoFit/>
          </a:bodyPr>
          <a:lstStyle/>
          <a:p>
            <a:pPr algn="ctr" indent="0" marL="0">
              <a:buNone/>
            </a:pPr>
            <a:r>
              <a:rPr lang="en-US" sz="1000" b="1" dirty="0">
                <a:solidFill>
                  <a:srgbClr val="0A192F"/>
                </a:solidFill>
                <a:latin typeface="Poppins SemiBold" pitchFamily="34" charset="0"/>
                <a:ea typeface="Poppins SemiBold" pitchFamily="34" charset="-122"/>
                <a:cs typeface="Poppins SemiBold" pitchFamily="34" charset="-120"/>
              </a:rPr>
              <a:t>SIMATS Engineering</a:t>
            </a:r>
            <a:r>
              <a:rPr lang="en-US" sz="1000" b="1" dirty="0">
                <a:solidFill>
                  <a:srgbClr val="0A192F"/>
                </a:solidFill>
                <a:latin typeface="Poppins SemiBold" pitchFamily="34" charset="0"/>
                <a:ea typeface="Poppins SemiBold" pitchFamily="34" charset="-122"/>
                <a:cs typeface="Poppins SemiBold" pitchFamily="34" charset="-120"/>
              </a:rPr>
              <a:t>
</a:t>
            </a:r>
            <a:r>
              <a:rPr lang="en-US" sz="1000" b="1" dirty="0">
                <a:solidFill>
                  <a:srgbClr val="0A192F"/>
                </a:solidFill>
                <a:latin typeface="Poppins SemiBold" pitchFamily="34" charset="0"/>
                <a:ea typeface="Poppins SemiBold" pitchFamily="34" charset="-122"/>
                <a:cs typeface="Poppins SemiBold" pitchFamily="34" charset="-120"/>
              </a:rPr>
              <a:t>Course: CSA05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2026-07-27T04:32:23Z</dcterms:created>
  <dcterms:modified xsi:type="dcterms:W3CDTF">2026-07-27T04:32:23Z</dcterms:modified>
</cp:coreProperties>
</file>