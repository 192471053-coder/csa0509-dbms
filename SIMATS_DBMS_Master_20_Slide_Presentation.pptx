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Q1.1 - Online Library System - Overview (Slide 1/20)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ENTITY-RELATIONSHIP MODELING ▸ Introduction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Library: A web-accessible digital repository enabling 24/7 remote catalog search, book reservations, and member management.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Necessity: Replaces physical registers with indexed tables, preventing data redundancy and ensuring concurrent access.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 Instant multi-attribute search, automated loan tracking, real-time stock status, and role-based access security.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System Scope: Handles Members, Books, Authors, Publishers, Librarians, Issue Records, and Return Transactions.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 robust DBMS is essential for an Online Library to maintain transactional consistency across concurrent book loans.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Q1.2 - Main Entities &amp; Attribute Specifications (Slide 2/20)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ENTITY-RELATIONSHIP MODELING ▸ Entity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Entity: Stores bibliographic data identified by unique Book_ID.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Entity: Tracks registered library patrons with membership tiers.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 Entity: Represents staff managing stock &amp; issuing operations.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&amp; PUBLISHER Entities: Relational lookup entities for normalization.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&amp; RETURN Entities: Transactional entities capturing loan lifecycles.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Every entity is mapped with proper Primary Key constraints to preserve entity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Q1.3 - Complete ER Diagram - Online Library (Slide 3/20)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ENTITY-RELATIONSHIP MODELING ▸ ER Schema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➔ Issues ➔ Book: 1-to-N cardinality (One member borrows many books).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➔ Written_By ➔ Author: N-to-M relationship (Many-to-Many).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➔ Publishes ➔ Book: 1-to-N cardinality (One publisher produces many titles).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➔ Settles ➔ Return: 1-to-1 strict relational constraint.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 ➔ Processes ➔ Issue: 1-to-N staff operational tracking.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The ER diagram explicitly enforces referential integrity between loans, books, and members.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Q1.4 - System Advantages &amp; Executive Summary (Slide 4/20)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ENTITY-RELATIONSHIP MODELING ▸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Book Searches: B-tree indexed searches by title, author, category, or ISBN in milliseconds.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Issue &amp; Return: Automated barcode scans update inventory instantly with zero queue times.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Record Management: Automated fine computation for overdue books and audit logs.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Paperwork: Eco-friendly cloud database replacing physical registers and paper receipts.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Automating library operations via relational DBMS reduces administrative costs by 80%.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Q2.1 - Introduction to EER Model (Slide 5/20)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EXTENDED DBMS CONCEPTS ▸ Introduction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EER Model? Enhanced Entity-Relationship model extending basic ER with semantic constructs for complex real-world modeling.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Additions: Subclasses, Superclasses, Generalization, Specialization, Categorization, and Attribute Inheritance.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vs EER Comparison: Basic ER models simple entities &amp; relationships; EER models object-oriented hierarchies and specialization rules.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Domain Need: A university contains diverse roles (Students, Professors, Staff) sharing common personal traits.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EER model introduces object-oriented concepts into relational database design.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Q2.2 - Generalization - University Example (Slide 6/20)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EXTENDED DBMS CONCEPTS ▸ Generalization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Concept: Bottom-up design process combining specialized entity sets into a generalized higher-level superclass.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Superclass (PERSON): Inherits common attributes: Person_ID (PK), Name, DOB, Address, Gender, Email.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Subclasses (STUDENT, PROFESSOR, STAFF): Retain inherited attributes while adding specialized local attributes.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Subclass: Specialized attributes: Roll_No, Major, GPA, Degree_Program.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Subclass: Specialized attributes: Faculty_ID, Research_Area, Department, Rank.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Generalization reduces schema redundancy by grouping shared attributes into a single superclass.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Q2.3 - Specialization - University EMPLOYEE Hierarchy (Slide 7/20)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EXTENDED DBMS CONCEPTS ▸ Specialization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Concept: Top-down design process partitioning a superclass into distinct subclasses based on distinguishing characteristics.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Superclass (EMPLOYEE): Contains core employee attributes: Emp_ID (PK), Name, Salary, Hire_Date.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Staff: Adds Teaching_Load, Course_Assigned, Office_Hours.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Non-Teaching Staff: Adds Admin_Role, Shift_Timing, Department_Code.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Staff: Adds Project_Grant_ID, Lab_Number, Publications_Count.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 Disjoint (d) constraint enforces that an employee belongs to exactly one specialized sub-category.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Specialization enables precise constraint enforcement without cluttering the main table with NULL values.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Q2.4 - Advantages of EER &amp; Real-Life Applications (Slide 8/20)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EXTENDED DBMS CONCEPTS ▸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NULL Inefficiencies: Prevents sparse tables caused by role-specific attributes.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Encapsulates Domain Logic: Enforces disjoint and total participation constraints directly at database level.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Extensibility: Easily append new subclasses (e.g., Visiting Scholar) without modifying existing tables.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Applications: University Portals (SIMATS), Hospital Patient Systems, Banking Customer Categorization.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EER modeling provides superior structural representation for complex enterprise systems.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Q3.1 - Introduction to Data Independence (Slide 9/20)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DATABASE ARCHITECTURE ▸ Introduction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Data Independence? The ability to modify a schema definition at one level of a database system without altering the schema definition at the next higher level.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3-Schema Architecture Foundation: External Level (Views) ➔ Conceptual Level (Logical Schema) ➔ Internal Level (Physical Storage).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Prevents application breakage when underlying database structures, indexes, or storage devices are updated.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Key Types: Logical Data Independence and Physical Data Independence.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Data independence insulates user applications from internal database schema modifications.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Q3.2 - Logical Data Independence (Slide 10/20)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DATABASE ARCHITECTURE ▸ Logical Independence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The capacity to modify the Conceptual Schema (tables, relationships) without requiring changes to External Views or User Applications.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Modifications Handled: Adding new entities/attributes, deleting unused fields, merging tables, splitting relations.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Maintained via View Mappings between the Conceptual Schema and User Views.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Adding a "Student_Aadhaar_No" column to the STUDENT table without breaking existing grade-card viewing software.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Logical data independence ensures front-end software remains functional during database schema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Q3.3 - Physical Data Independence (Slide 11/20)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DATABASE ARCHITECTURE ▸ Physical Independence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The capacity to modify the Internal Schema (storage organization, indexing) without altering the Conceptual Schema or SQL queries.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Changes Handled: Creating B+ Tree or Hash Indexes, changing file compression, migrating from HDD to NVMe SSDs, partitioning tables.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Conceptual-to-Internal Mapping isolates logical table abstractions from physical byte structures.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Adding a B+ Tree index on "Roll_No" speeds up query execution without modifying any SELECT statements.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Physical data independence enables hardware upgrades and performance tuning without affecting query syntax.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Q3.4 - Logical vs. Physical Data Independence (Slide 12/20)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DATABASE ARCHITECTURE ▸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Data Independence works at the Conceptual level; Physical Data Independence works at the Internal/Storage level.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changes affect schema views; Physical changes affect hardware performance and index access paths.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independence is harder to achieve due to view mapping complexities; Physical independence is standard in modern DBMS engines.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Data independence dramatically lowers software maintenance costs and guarantees enterprise scalability.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Q4.1 - DBMS Architecture &amp; Core Subsystems (Slide 13/20)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DBMS ARCHITECTURE ▸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Software Architecture: A multi-layered structure bridging user requests to raw disk storage.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Subsystems: Query Processor (Handles SQL parsing &amp; optimization) and Storage Manager (Handles RAM/Disk data persistence).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Layer: Web interfaces, CLI, JDBC/ODBC connectors, and administrative portals.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 Layer: Holds User Data Files, System Catalog (Data Dictionary), Indices, and Transaction Logs.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 DBMS abstracts complex physical disk I/O through modular Query Processing and Storage Management subsystems.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Q4.2 - Query Processor Engine (Slide 14/20)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DBMS ARCHITECTURE ▸ Query Processor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Interpreter: Processes data definition commands (CREATE, ALTER) and updates metadata in the Data Dictionary.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DML Parser &amp; Translator: Checks SQL syntax, validates column permissions, and generates relational algebra parse trees.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Optimizer: Evaluates alternative execution plans using cost statistics to select the most efficient access path.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Execution Engine: Executes compiled low-level instructions by calling Storage Manager primitives.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The Query Optimizer is the brain of the Query Processor, minimizing disk I/O costs.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Q4.3 - Storage Manager Subsystem (Slide 15/20)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DBMS ARCHITECTURE ▸ Storage Manager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Manager: Manages volatile memory (RAM), caching frequently accessed database pages to eliminate redundant disk reads.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Manager: Guarantees ACID compliance during multi-step read/write operations.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Manager (Concurrency Control): Enforces shared/exclusive locks to prevent dirty reads and race conditions.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Manager: Maintains Write-Ahead Logs (WAL) to restore database consistency after unexpected crashes or failures.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Manager: Manages disk space allocation and physical data structures on storage drives.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The Storage Manager bridges high-level query operations with low-level physical disk memory blocks.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Q4.4 - Overall DBMS Query Execution Workflow (Slide 16/20)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DBMS ARCHITECTURE ▸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(Request Submission): User issues SQL query through web interface or JDBC connection.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(Parsing &amp; Optimization): DML Compiler parses syntax and Optimizer selects optimal plan.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(Storage Manager Execution): Execution Engine requests data pages from Buffer Manager.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(Disk I/O &amp; Caching): If page is in RAM (Cache Hit), return immediately; else fetch from physical disk (Cache Miss).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(Result Stream): Data tuples are filtered, formatted, and streamed back to the user.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Seamless coordination between Query Processor and Storage Manager ensures fast execution with total ACID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Q5.1 - Introduction to Entity Types (Slide 17/20)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RELATIONAL SCHEMA CONSTRAINTS ▸ Introduction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Set: A collection of similar entities sharing identical attributes in a database model.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Entity Set: An entity set possessing a Primary Key attribute that uniquely identifies every instance independently.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Entity Set: An entity set lacking a Primary Key attribute on its own, relying on an Identifying Owner Entity.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Difference: Existence Dependency—a Weak Entity cannot exist in the database without its Owner Entity.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Strong entities exist independently; weak entities require an owner entity and identifying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Q5.2 - Strong Entity Sets - Characteristics &amp; Schema (Slide 18/20)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RELATIONAL SCHEMA CONSTRAINTS ▸ Strong Entity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Representation: Drawn as a single solid rectangle in ER diagrams.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Symbol: Primary Key attribute is underlined with a solid line (e.g., Roll_No, Emp_ID).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Characteristics: Independent existence, can participate in standard relationships, referenced by foreign keys.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Examples: STUDENT (Roll_No 🔑), EMPLOYEE (Emp_ID 🔑), CUSTOMER (Cust_ID 🔑).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Strong entities serve as primary tables that anchor relational database schemas.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Q5.3 - Weak Entity Sets - Characteristics &amp; Schema (Slide 19/20)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RELATIONAL SCHEMA CONSTRAINTS ▸ Weak Entity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Representation: Drawn as a double rectangle with double-bordered attributes.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Relationship: Connected to Owner Entity via a Double Diamond symbol.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Key (Discriminator): Attributes underlined with a dashed line (🗝️) (e.g., Dep_Name).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Primary Key: Formed by combining Owner's Primary Key + Weak Entity's Partial Key.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Constraint: Mandatory Total Participation (double line connection to owner).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Examples: DEPENDENT (Owner: EMPLOYEE), ORDER_ITEM (Owner: ORDER), BUILDING_ROOM (Owner: BUILDING).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Weak entities use double rectangles and derive composite primary keys from their identifying owners.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SIMATS ENGINEERING DBMS | Q5.4 - Strong Entity vs. Weak Entity Comparison (Slide 20/20)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RELATIONAL SCHEMA CONSTRAINTS ▸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entities have primary keys; weak entities have partial keys.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entities use single shapes; weak entities use double shapes in ER diagrams.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behavior: Deleting a strong entity triggers CASCADE deletion of dependent weak entities.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Properly identifying weak entities prevents orphaned records and enforces strict referential integrity.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DBMS Assessment Tool 3 Master Presentation</dc:title>
  <dc:subject>PptxGenJS Presentation</dc:subject>
  <dc:creator>PptxGenJS</dc:creator>
  <cp:lastModifiedBy>PptxGenJS</cp:lastModifiedBy>
  <cp:revision>1</cp:revision>
  <dcterms:created xsi:type="dcterms:W3CDTF">2026-07-23T16:36:51Z</dcterms:created>
  <dcterms:modified xsi:type="dcterms:W3CDTF">2026-07-23T16:36:51Z</dcterms:modified>
</cp:coreProperties>
</file>