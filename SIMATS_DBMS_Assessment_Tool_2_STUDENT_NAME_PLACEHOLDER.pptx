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6309360"/>
          </a:xfrm>
          <a:prstGeom prst="rect">
            <a:avLst>
              <a:gd name="adj" fmla="val 2174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1640312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SIMATS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Database Management Systems | CSA05 — Assessment Tool 2 - Concept Mapping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583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DATABASE MANAGEMENT SYSTEMS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CONCEPT MAPPING — ASSESSMENT TOOL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612648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Course Outcome (CO1):
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CO1: Analyse DBMS architecture, different data models, schema types, and design ER/EER diagrams, relational schemas for case-based scenarios by identifying entities and relationships.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6126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177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PREPARED BY STUDENT:
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Name: 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STUDENT NAME PLACEHOLDER
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Register No: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REG2026101   |   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Section: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CSE - Section A
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Department: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Department of Computer Science &amp; Engineering
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Submission Date: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July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920240"/>
            <a:ext cx="4389120" cy="43891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DATABASE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560320"/>
            <a:ext cx="2926080" cy="4572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Relational Schemas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200400"/>
            <a:ext cx="2926080" cy="45720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EER / ER Diagrams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3840480"/>
            <a:ext cx="2926080" cy="45720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ANSI/SPARC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4480560"/>
            <a:ext cx="2926080" cy="45720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Physical Storage &amp;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72600" y="3035808"/>
            <a:ext cx="274320" cy="14630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9372600" y="3675888"/>
            <a:ext cx="274320" cy="14630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4315968"/>
            <a:ext cx="274320" cy="14630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5166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SIMATS ENGINEERING • CSA05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40312" cy="777240"/>
          </a:xfrm>
          <a:prstGeom prst="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29260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 MANAGEMENT SYSTEMS CORE CONCEPT 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621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Linking Schema, Instance, Data Model, ER Diagram, Entity, Attribute &amp; Relationship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143000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1430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MANAGEMENT SYSTEM (DBMS)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BRANCH 1: DATABASE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ER Diagram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Conceptual graphical blueprint of 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3255264"/>
            <a:ext cx="182880" cy="10972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3832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Entity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Real-world object / entity set (e.g. Student)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4123944"/>
            <a:ext cx="182880" cy="10972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519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Attributes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Properties describing entity (e.g. Name, Age)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4992624"/>
            <a:ext cx="182880" cy="109728"/>
          </a:xfrm>
          <a:prstGeom prst="downArrow">
            <a:avLst/>
          </a:prstGeom>
          <a:solidFill>
            <a:srgbClr val="F9731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51206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Relationship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Association between entities (e.g. Enrolls)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20116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BRANCH 2: SCHEMA &amp; INSTANCE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25146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Schema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Overall logical design / blueprint (Rarely changes)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3255264"/>
            <a:ext cx="182880" cy="10972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3832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Logical Structure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Table definitions, data types, constraints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4123944"/>
            <a:ext cx="182880" cy="10972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42519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Instance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Snapshot of database at a specific moment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4992624"/>
            <a:ext cx="182880" cy="109728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0" y="51206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Actual Data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Live tuples/rows inserted inside tables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1040" y="20116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BRANCH 3: DATA MODELS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25146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Data Models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Conceptual framework structuring data relationships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12680" y="3255264"/>
            <a:ext cx="182880" cy="109728"/>
          </a:xfrm>
          <a:prstGeom prst="downArrow">
            <a:avLst/>
          </a:prstGeom>
          <a:solidFill>
            <a:srgbClr val="8B5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33832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Hierarchical Model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Tree structure with 1:N parent-child records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12680" y="4123944"/>
            <a:ext cx="182880" cy="109728"/>
          </a:xfrm>
          <a:prstGeom prst="downArrow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42519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Network Model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Graph structure supporting N:M record links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12680" y="4992624"/>
            <a:ext cx="182880" cy="109728"/>
          </a:xfrm>
          <a:prstGeom prst="downArrow">
            <a:avLst/>
          </a:prstGeom>
          <a:solidFill>
            <a:srgbClr val="8B5CF6"/>
          </a:solidFill>
          <a:ln/>
        </p:spPr>
      </p:sp>
      <p:sp>
        <p:nvSpPr>
          <p:cNvPr id="46" name="Shape 44"/>
          <p:cNvSpPr/>
          <p:nvPr/>
        </p:nvSpPr>
        <p:spPr>
          <a:xfrm>
            <a:off x="8503920" y="51206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Relational Model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Tables (Relations) with keys (Primary/Foreign)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6263640"/>
            <a:ext cx="11640312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629107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Key Takeaway / Notes: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ER Diagrams guide conceptual design, which compiles into logical Schemas populated by dynamic Data Instances across Relational models.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40312" cy="777240"/>
          </a:xfrm>
          <a:prstGeom prst="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29260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ANSI/SPARC THREE-LEVEL ARCHITECTURE &amp; DATA INDEPENDENCE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621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External, Conceptual, and Internal Levels with Logical and Physical Data Independence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1097280"/>
            <a:ext cx="4297680" cy="502920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097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ANSI / SPARC THREE-LEVEL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82880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EXTERNAL LEVEL (USER VIEWS)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Describes how distinct end-users view the data. Multiple customized views exist for security and tailored interfaces.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User 1: Student Portal View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User 2: Faculty Admin 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50976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User 3: Accounts 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0" y="306324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0632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↔ LOGICAL DATA INDEPENDENCE: Immunity of external views to logical schema changes 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97280" y="356616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CONCEPTUAL LEVEL (LOGICAL SCHEMA)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931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Defines WHAT data is stored in the entire database, including entities, data types, relationships, security, and integrity rules.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70332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7490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</a:rPr>
              <a:t>Entities &amp; Attributes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46720" y="370332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7490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</a:rPr>
              <a:t>Logical Constraints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09760" y="370332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37490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</a:rPr>
              <a:t>Global ER Mapping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26080" y="480060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48006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↔ PHYSICAL DATA INDEPENDENCE: Immunity of conceptual schema to storage disk / index changes 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97280" y="5303520"/>
            <a:ext cx="9966960" cy="868680"/>
          </a:xfrm>
          <a:prstGeom prst="roundRect">
            <a:avLst>
              <a:gd name="adj" fmla="val 1052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5349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</a:rPr>
              <a:t>INTERNAL LEVEL (PHYSICAL STORAGE SCHEMA)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8016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Defines HOW data is physically stored on disk, file allocation structures, record hashing, B-Tree indexes, and encryption.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5376672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5394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</a:rPr>
              <a:t>Disk Allocation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46720" y="5376672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5394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</a:rPr>
              <a:t>B+ Tree Indexing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509760" y="5376672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5394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</a:rPr>
              <a:t>Physical Database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6263640"/>
            <a:ext cx="11640312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629107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Key Takeaway / Notes: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Two-level mappings (External/Conceptual and Conceptual/Internal) achieve total separation of user queries from hardware implementation details.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40312" cy="777240"/>
          </a:xfrm>
          <a:prstGeom prst="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29260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MANAGEMENT EVOLUTION: FILE SYSTEM VS. DBMS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621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Mapping Conventional File System Vulnerabilities to Modern DBMS Solutions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097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MANAGEMENT PARADIGMS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FILE-BASED SYSTEM (PROBLEMS &amp; LIMITATIONS)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1. Data Redundancy: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Same data duplicated across multiple departmental files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2. Data Inconsistency: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Conflicting values when one file updates and another fails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112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3. Poor Data Security: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Lack of granular access controls; raw file access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96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4. No Automated Backup: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Risk of catastrophic data loss during system failure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78231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28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5. Poor Data Sharing: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Isolated files hinder concurrent multi-user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86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6. Program Data Dependence: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File format changes require modifying all app codes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2926080"/>
            <a:ext cx="1188720" cy="201168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971800"/>
            <a:ext cx="1097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DBMS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SOLVES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PROBLEMS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69164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DATABASE MANAGEMENT SYSTEM (DBMS SOLUTIONS)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214884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1. Reduced Redundancy: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Centralized repository avoids unnecessary duplication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280720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2. Ensured Consistency: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Single data copy guarantees accurate updates everywhere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49440" y="3465576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112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3. Robust Security: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Role-based authorization and column-level encryption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4123944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1696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4. Backup &amp; Recovery: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ACID transaction logs and auto crash-recovery engines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478231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4828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5. Concurrency Control: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Locking mechanisms allow multi-user simultaneous queries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54406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5486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6. Data Independence: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Decouples application code from internal disk storage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6263640"/>
            <a:ext cx="11640312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629107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Key Takeaway / Notes: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DBMS transforms file isolation into enterprise-grade data management through ACID compliance, multi-user concurrency, and declarative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40312" cy="777240"/>
          </a:xfrm>
          <a:prstGeom prst="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29260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ENTITY-RELATIONSHIP (ER) DIAGRAM COMPONENTS &amp; TYPES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621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Entities, Relationships, Attribute Classifications with Examples, &amp; Participation 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097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 MODEL COMPONENTS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1. ENTITY TYPES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Strong Entity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Has primary key. Represented by single rectangle.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Student, Course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023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148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Weak Entity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Depends on owner entity; double rectangle.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Dependent, Payment_History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1691640"/>
            <a:ext cx="3474720" cy="4434840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7830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</a:rPr>
              <a:t>2. ATTRIBUTE CLASSIFICATION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27248" y="2084832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210312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Simple: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Atomic, indivisible value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Age, Gender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27248" y="2743200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2761488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Composite: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Divided into sub-parts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Name (First, Last)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3401568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3419856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Single-valued: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Only one value per entity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DOB, SSN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27248" y="4059936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4078224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Multi-valued: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Multiple values allowed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Phone_No, Emails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27248" y="4718304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4736592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Derived: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Calculated from others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Age (from DOB)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7248" y="5376672"/>
            <a:ext cx="3255264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539496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Key Attribute: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Uniquely identifies record
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Ex: Student_ID (Underlined)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3. RELATIONSHIPS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20840" y="21031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2148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One-to-One (1:1)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Person ↔ Passport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0840" y="30632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108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One-to-Many (1:N)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Department ↔ Employees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20840" y="4023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40690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Many-to-One (N:1)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Students ↔ College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20840" y="4983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5029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Many-to-Many (M:N)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Students ↔ Courses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26880" y="169164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4. PARTICIPATION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36608" y="2103120"/>
            <a:ext cx="2340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0" y="21945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Total Participation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Every entity instance MUST participate in relationship (Double line).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Every Employee must belong to a Department.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436608" y="4023360"/>
            <a:ext cx="2340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9760" y="41148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Partial Participation
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Some entity instances may not participate (Single line).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Ex: Not all Employees manage a Department.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6263640"/>
            <a:ext cx="11640312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629107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Key Takeaway / Notes: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Attributes provide detailed descriptors (Key, Derived, Composite), mapped through diamond relationships subject to 1:N or M:N cardinality and participation rules.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40312" cy="777240"/>
          </a:xfrm>
          <a:prstGeom prst="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29260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 DATA MODELS COMPARISON &amp; EVALUATION MATRIX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621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Hierarchical Model vs. Network Model vs. Relational Model with Structural Comparison 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DATA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HIERARCHICAL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Structure: Inverted Tree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Mapping: Strict One-to-Many (1:N)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Pros &amp; Cons: Fast retrieval, but rigid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Applications: XML Data, Org Charts, IMS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NETWORK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Structure: Graph / Network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Mapping: Flexible Many-to-Many (N:M)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Pros &amp; Cons: High flexibility, complex pointers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Applications: Telecom, Transport Networks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RELATIONAL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Structure: Tabular (Rows &amp; Columns)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Keys: Primary Key &amp; Foreign Key links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Language: Declarative SQL querying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• Applications: Bank, Hospital, E-Commerce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70332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DATA MODEL COMPARISON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77640"/>
          <a:ext cx="116403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  <a:gridCol w="3410712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Hierarchical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Network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Relational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Structure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Inverted Tree / Parent-Child hierarchy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Plex Graph / Network of interconnected nodes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Tables (Relations) with Rows (Tuples) &amp; Columns (Attributes)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Relationship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Strict One-to-Many (1:N)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Many-to-Many (N:M) via Set Pointers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1:1, 1:N, and N:M via Foreign Key constraints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Flexibility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Rigid (Queries must follow pre-defined tree paths)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Moderate (Complex pointer navigation required)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High (Dynamic ad-hoc queries via declarative SQL)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Complexity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Simple design, restricted physical navigation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High structural and pointer overhead complexity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Low structural complexity, mathematically sound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Applications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XML documents, Windows Registry, Org Charts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Telecommunications, Airline reservations, Maps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Banking, E-Commerce, Hospitals, Enterprise ERPs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74320" y="6263640"/>
            <a:ext cx="11640312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629107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Key Takeaway / Notes: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Relational databases dominate modern software due to mathematical simplicity, key-driven normalization, and universal declarative query standardization (SQL).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- Database Management Systems Concept Mapping</dc:title>
  <dc:subject>DBMS Assessment Tool 2 - Course Code CSA05</dc:subject>
  <dc:creator>STUDENT NAME PLACEHOLDER</dc:creator>
  <cp:lastModifiedBy>STUDENT NAME PLACEHOLDER</cp:lastModifiedBy>
  <cp:revision>1</cp:revision>
  <dcterms:created xsi:type="dcterms:W3CDTF">2026-07-23T16:03:29Z</dcterms:created>
  <dcterms:modified xsi:type="dcterms:W3CDTF">2026-07-23T16:03:29Z</dcterms:modified>
</cp:coreProperties>
</file>